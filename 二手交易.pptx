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autoCompressPictures="0">
  <p:sldMasterIdLst>
    <p:sldMasterId id="2147483648" r:id="rId1"/>
  </p:sldMasterIdLst>
  <p:notesMasterIdLst>
    <p:notesMasterId r:id="rId3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7" r:id="rId18"/>
    <p:sldId id="278" r:id="rId19"/>
    <p:sldId id="279" r:id="rId20"/>
    <p:sldId id="280" r:id="rId21"/>
    <p:sldId id="272" r:id="rId22"/>
    <p:sldId id="273" r:id="rId23"/>
    <p:sldId id="276" r:id="rId24"/>
    <p:sldId id="274" r:id="rId25"/>
    <p:sldId id="275" r:id="rId26"/>
    <p:sldId id="281" r:id="rId27"/>
    <p:sldId id="282" r:id="rId28"/>
    <p:sldId id="283" r:id="rId2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11B6584-E325-4468-9E5D-D5136B0C3DAB}" v="152" dt="2026-04-28T17:34:48.585"/>
    <p1510:client id="{DE6AF033-DF4A-D246-B93D-274F74734E3D}" v="21" dt="2026-04-28T02:57:59.58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64"/>
    <p:restoredTop sz="94626"/>
  </p:normalViewPr>
  <p:slideViewPr>
    <p:cSldViewPr snapToGrid="0">
      <p:cViewPr varScale="1">
        <p:scale>
          <a:sx n="147" d="100"/>
          <a:sy n="147" d="100"/>
        </p:scale>
        <p:origin x="56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microsoft.com/office/2015/10/relationships/revisionInfo" Target="revisionInfo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71BAE3-9003-874F-B988-56397B34B92E}" type="datetimeFigureOut">
              <a:rPr kumimoji="1" lang="zh-TW" altLang="en-US" smtClean="0"/>
              <a:t>2026/4/29</a:t>
            </a:fld>
            <a:endParaRPr kumimoji="1"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F782AD-FCDA-6E4D-93AC-E45F9C16C80E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0953553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F782AD-FCDA-6E4D-93AC-E45F9C16C80E}" type="slidenum">
              <a:rPr kumimoji="1" lang="zh-TW" altLang="en-US" smtClean="0"/>
              <a:t>4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8086724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F782AD-FCDA-6E4D-93AC-E45F9C16C80E}" type="slidenum">
              <a:rPr kumimoji="1" lang="zh-TW" altLang="en-US" smtClean="0"/>
              <a:t>12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8221037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>
                <a:latin typeface="Microsoft JhengHei" panose="020B0604030504040204" pitchFamily="34" charset="-120"/>
                <a:ea typeface="Microsoft JhengHei" panose="020B0604030504040204" pitchFamily="34" charset="-120"/>
              </a:defRPr>
            </a:lvl1pPr>
          </a:lstStyle>
          <a:p>
            <a:r>
              <a:rPr lang="zh-TW" altLang="en-US" dirty="0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 dirty="0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66F704-D2A0-3E4B-9BF5-D5E545349341}" type="datetime1">
              <a:rPr lang="zh-TW" altLang="en-US" smtClean="0"/>
              <a:t>2026/4/29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800">
                <a:latin typeface="Microsoft JhengHei" panose="020B0604030504040204" pitchFamily="34" charset="-120"/>
                <a:ea typeface="Microsoft JhengHei" panose="020B0604030504040204" pitchFamily="34" charset="-120"/>
              </a:defRPr>
            </a:lvl1pPr>
          </a:lstStyle>
          <a:p>
            <a:r>
              <a:rPr lang="zh-TW" altLang="en-US" dirty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>
            <a:lvl1pPr>
              <a:defRPr sz="1800">
                <a:latin typeface="Microsoft JhengHei" panose="020B0604030504040204" pitchFamily="34" charset="-120"/>
                <a:ea typeface="Microsoft JhengHei" panose="020B0604030504040204" pitchFamily="34" charset="-120"/>
              </a:defRPr>
            </a:lvl1pPr>
            <a:lvl2pPr>
              <a:buFont typeface="標準系統字體"/>
              <a:buChar char="◦"/>
              <a:defRPr sz="1800">
                <a:latin typeface="Microsoft JhengHei" panose="020B0604030504040204" pitchFamily="34" charset="-120"/>
                <a:ea typeface="Microsoft JhengHei" panose="020B0604030504040204" pitchFamily="34" charset="-120"/>
              </a:defRPr>
            </a:lvl2pPr>
            <a:lvl3pPr>
              <a:defRPr>
                <a:latin typeface="Microsoft JhengHei" panose="020B0604030504040204" pitchFamily="34" charset="-120"/>
                <a:ea typeface="Microsoft JhengHei" panose="020B0604030504040204" pitchFamily="34" charset="-120"/>
              </a:defRPr>
            </a:lvl3pPr>
            <a:lvl4pPr>
              <a:defRPr>
                <a:latin typeface="Microsoft JhengHei" panose="020B0604030504040204" pitchFamily="34" charset="-120"/>
                <a:ea typeface="Microsoft JhengHei" panose="020B0604030504040204" pitchFamily="34" charset="-120"/>
              </a:defRPr>
            </a:lvl4pPr>
            <a:lvl5pPr>
              <a:defRPr>
                <a:latin typeface="Microsoft JhengHei" panose="020B0604030504040204" pitchFamily="34" charset="-120"/>
                <a:ea typeface="Microsoft JhengHei" panose="020B0604030504040204" pitchFamily="34" charset="-120"/>
              </a:defRPr>
            </a:lvl5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BCA47-4A1F-A842-AAE1-74C71A28E3D0}" type="datetime1">
              <a:rPr lang="zh-TW" altLang="en-US" smtClean="0"/>
              <a:t>2026/4/29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061418" y="5466345"/>
            <a:ext cx="811019" cy="503578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6C0A1A-39E7-D142-8C26-548FFA25EE38}" type="datetime1">
              <a:rPr lang="zh-TW" altLang="en-US" smtClean="0"/>
              <a:t>2026/4/29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62BBA1-DFA4-5E40-A57A-E9C0B000C766}" type="datetime1">
              <a:rPr lang="zh-TW" altLang="en-US" smtClean="0"/>
              <a:t>2026/4/29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D0D757-F530-DC42-BC82-F4CED6D3BFC4}" type="datetime1">
              <a:rPr lang="zh-TW" altLang="en-US" smtClean="0"/>
              <a:t>2026/4/29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8FA814-392F-7248-BD0E-981BD94AB448}" type="datetime1">
              <a:rPr lang="zh-TW" altLang="en-US" smtClean="0"/>
              <a:t>2026/4/29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FCAE6-02C6-9A47-AB58-C9E7125ECF11}" type="datetime1">
              <a:rPr lang="zh-TW" altLang="en-US" smtClean="0"/>
              <a:t>2026/4/29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90B7C-AD23-934B-9466-EB3D958D82D2}" type="datetime1">
              <a:rPr lang="zh-TW" altLang="en-US" smtClean="0"/>
              <a:t>2026/4/29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88C78C86-202A-A441-BD78-BD0545ADFB5B}" type="datetime1">
              <a:rPr lang="zh-TW" altLang="en-US" smtClean="0"/>
              <a:t>2026/4/29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159391-E031-DB47-8269-4D8E9044C427}" type="datetime1">
              <a:rPr lang="zh-TW" altLang="en-US" smtClean="0"/>
              <a:t>2026/4/29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E4A8E7-7FFC-D244-B270-FE3CE163C66F}" type="datetime1">
              <a:rPr lang="zh-TW" altLang="en-US" smtClean="0"/>
              <a:t>2026/4/29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TW" alt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E9D343-C434-B94A-9BD7-7C4BF6B6C2E9}" type="datetime1">
              <a:rPr lang="zh-TW" altLang="en-US" smtClean="0"/>
              <a:t>2026/4/29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8F7966A-EB09-BCE2-C2D7-F10EB44D236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zh-TW" altLang="en-US" dirty="0"/>
              <a:t>二手物品交易平台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D240E491-C65D-0969-64BA-5DA7B9DE9E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2003964"/>
          </a:xfrm>
        </p:spPr>
        <p:txBody>
          <a:bodyPr>
            <a:normAutofit/>
          </a:bodyPr>
          <a:lstStyle/>
          <a:p>
            <a:r>
              <a:rPr kumimoji="1" lang="en-US" altLang="zh-TW" sz="2000" dirty="0"/>
              <a:t>41243117</a:t>
            </a:r>
            <a:r>
              <a:rPr kumimoji="1" lang="zh-TW" altLang="en-US" sz="2000" dirty="0"/>
              <a:t> 吳承璿</a:t>
            </a:r>
            <a:endParaRPr kumimoji="1" lang="en-US" altLang="zh-TW" sz="2000" dirty="0"/>
          </a:p>
          <a:p>
            <a:r>
              <a:rPr kumimoji="1" lang="en-US" altLang="zh-TW" sz="2000" dirty="0"/>
              <a:t>41243126</a:t>
            </a:r>
            <a:r>
              <a:rPr kumimoji="1" lang="zh-TW" altLang="en-US" sz="2000" dirty="0"/>
              <a:t> 胡楨</a:t>
            </a:r>
            <a:endParaRPr kumimoji="1" lang="en-US" altLang="zh-TW" sz="2000" dirty="0"/>
          </a:p>
          <a:p>
            <a:r>
              <a:rPr kumimoji="1" lang="en-US" altLang="zh-TW" sz="2000" dirty="0"/>
              <a:t>41243131</a:t>
            </a:r>
            <a:r>
              <a:rPr kumimoji="1" lang="zh-TW" altLang="en-US" sz="2000" dirty="0"/>
              <a:t> 莊笙禾</a:t>
            </a:r>
            <a:endParaRPr kumimoji="1" lang="en-US" altLang="zh-TW" sz="2000" dirty="0"/>
          </a:p>
          <a:p>
            <a:r>
              <a:rPr kumimoji="1" lang="en-US" altLang="zh-TW" sz="2000" dirty="0"/>
              <a:t>41243157</a:t>
            </a:r>
            <a:r>
              <a:rPr kumimoji="1" lang="zh-TW" altLang="en-US" sz="2000" dirty="0"/>
              <a:t> 鍾秉浩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7CCDF490-A06A-E5E2-9FBD-AB5A8001E598}"/>
              </a:ext>
            </a:extLst>
          </p:cNvPr>
          <p:cNvSpPr txBox="1"/>
          <p:nvPr/>
        </p:nvSpPr>
        <p:spPr>
          <a:xfrm>
            <a:off x="9774220" y="5165836"/>
            <a:ext cx="13729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2026/04/29</a:t>
            </a:r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5294297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FB09C4A-33CB-AC71-8F9A-F784761865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TW" altLang="en-US" sz="4800" dirty="0"/>
              <a:t>目錄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B12BF43-8164-0897-1EC8-558A5EDA3C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TW" altLang="en-US" sz="2400" dirty="0"/>
              <a:t>應用情境與使用說明</a:t>
            </a:r>
            <a:endParaRPr kumimoji="1" lang="en-US" altLang="zh-TW" sz="2400" dirty="0"/>
          </a:p>
          <a:p>
            <a:r>
              <a:rPr lang="zh-TW" altLang="en-US" sz="2400" dirty="0"/>
              <a:t>系統需求</a:t>
            </a:r>
            <a:endParaRPr lang="en-US" altLang="zh-TW" sz="2400" dirty="0"/>
          </a:p>
          <a:p>
            <a:r>
              <a:rPr kumimoji="1" lang="zh-TW" altLang="en-US" sz="2400" dirty="0"/>
              <a:t>完整性限制</a:t>
            </a:r>
            <a:endParaRPr kumimoji="1" lang="en-US" altLang="zh-TW" sz="2400" dirty="0"/>
          </a:p>
          <a:p>
            <a:r>
              <a:rPr kumimoji="1" lang="zh-TW" altLang="en-US" sz="2400" dirty="0"/>
              <a:t>實體關係圖</a:t>
            </a:r>
          </a:p>
        </p:txBody>
      </p:sp>
    </p:spTree>
    <p:extLst>
      <p:ext uri="{BB962C8B-B14F-4D97-AF65-F5344CB8AC3E}">
        <p14:creationId xmlns:p14="http://schemas.microsoft.com/office/powerpoint/2010/main" val="9339178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27E616E-C0FC-3BD0-AD62-CE0E6DB1CC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TW" altLang="en-US" sz="4800" dirty="0"/>
              <a:t>應用情境與使用說明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A2D8DE2-CC6E-DD02-861C-F6450641AF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賣家可以在平台上刊登欲出售的二手商品，買家可以瀏覽商品、依分類查詢商品、建立訂單並完成付款。當交易成立後，系統會產生訂單、發票與出貨資料，賣家可依照買家選擇的物流方式進行出貨。交易完成後，買家可以針對賣家或該筆交易留下評價。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1CD801A-41E1-B53F-D667-7559CAAC9E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TW" dirty="0"/>
              <a:t>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76488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A5FD69E-ADA6-3722-F394-FF42015CE0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719329"/>
            <a:ext cx="9603275" cy="1134426"/>
          </a:xfrm>
        </p:spPr>
        <p:txBody>
          <a:bodyPr>
            <a:normAutofit fontScale="90000"/>
          </a:bodyPr>
          <a:lstStyle/>
          <a:p>
            <a:r>
              <a:rPr kumimoji="1" lang="zh-TW" altLang="en-US" sz="5300" dirty="0"/>
              <a:t>系統需求</a:t>
            </a:r>
            <a:br>
              <a:rPr kumimoji="1" lang="en-US" altLang="zh-TW" sz="4800" dirty="0"/>
            </a:br>
            <a:r>
              <a:rPr kumimoji="1" lang="zh-TW" altLang="en-US" sz="3100" dirty="0"/>
              <a:t>買家管理功能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C3CEC20-316A-7263-D67F-CB88FFE601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zh-TW" altLang="en-US" dirty="0"/>
              <a:t>依照商品分類、商品名稱或價格範圍進行查詢</a:t>
            </a:r>
            <a:endParaRPr lang="en-US" altLang="zh-TW" dirty="0"/>
          </a:p>
          <a:p>
            <a:pPr marL="457200" indent="-457200">
              <a:buFont typeface="+mj-lt"/>
              <a:buAutoNum type="arabicPeriod"/>
            </a:pPr>
            <a:r>
              <a:rPr lang="zh-TW" altLang="en-US" dirty="0"/>
              <a:t>建立訂單，並選擇付款方式與物流方式</a:t>
            </a:r>
            <a:endParaRPr lang="en-US" altLang="zh-TW" dirty="0"/>
          </a:p>
          <a:p>
            <a:pPr marL="457200" indent="-457200">
              <a:buFont typeface="+mj-lt"/>
              <a:buAutoNum type="arabicPeriod"/>
            </a:pPr>
            <a:r>
              <a:rPr lang="zh-TW" altLang="en-US" dirty="0"/>
              <a:t>查詢自己的訂單狀態、付款狀態與出貨狀態</a:t>
            </a:r>
            <a:endParaRPr lang="en-US" altLang="zh-TW" dirty="0"/>
          </a:p>
          <a:p>
            <a:pPr marL="457200" indent="-457200">
              <a:buFont typeface="+mj-lt"/>
              <a:buAutoNum type="arabicPeriod"/>
            </a:pPr>
            <a:r>
              <a:rPr lang="zh-TW" altLang="en-US" dirty="0"/>
              <a:t>可以針對該筆訂單撰寫評價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8E56F77-9C2C-0B89-8EA4-C1F934D218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TW" dirty="0"/>
              <a:t>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99233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E0DAED-4423-13C4-ACFF-36C81AFCF8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31CB01F-98BD-0C1B-2524-4477E1E26A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719329"/>
            <a:ext cx="9603275" cy="1134426"/>
          </a:xfrm>
        </p:spPr>
        <p:txBody>
          <a:bodyPr>
            <a:normAutofit fontScale="90000"/>
          </a:bodyPr>
          <a:lstStyle/>
          <a:p>
            <a:r>
              <a:rPr kumimoji="1" lang="zh-TW" altLang="en-US" sz="5300" dirty="0"/>
              <a:t>系統需求</a:t>
            </a:r>
            <a:br>
              <a:rPr kumimoji="1" lang="en-US" altLang="zh-TW" sz="4800" dirty="0"/>
            </a:br>
            <a:r>
              <a:rPr kumimoji="1" lang="zh-TW" altLang="en-US" sz="3100" dirty="0"/>
              <a:t>賣家管理功能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4E5AD30-8D80-C709-D7D8-2DAE4C0CDB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zh-TW" altLang="en-US" dirty="0"/>
              <a:t>刊登二手商品並輸入商品名稱、商品描述、價格、商品狀況、商品分類與上架日期等資料</a:t>
            </a:r>
            <a:endParaRPr lang="en-US" altLang="zh-TW" dirty="0"/>
          </a:p>
          <a:p>
            <a:pPr marL="457200" indent="-457200">
              <a:buFont typeface="+mj-lt"/>
              <a:buAutoNum type="arabicPeriod"/>
            </a:pPr>
            <a:r>
              <a:rPr lang="zh-TW" altLang="en-US" dirty="0"/>
              <a:t>管理自己刊登的商品，例如修改商品資訊、下架商品或查看商品是否已售出</a:t>
            </a:r>
            <a:endParaRPr lang="en-US" altLang="zh-TW" dirty="0"/>
          </a:p>
          <a:p>
            <a:pPr marL="457200" indent="-457200">
              <a:buFont typeface="+mj-lt"/>
              <a:buAutoNum type="arabicPeriod"/>
            </a:pPr>
            <a:r>
              <a:rPr lang="zh-TW" altLang="en-US" dirty="0"/>
              <a:t>查看訂單內容，並根據訂單安排出貨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32D0CAE-7D3B-6BD0-9920-95F594736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TW" dirty="0"/>
              <a:t>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32491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D6F58B-D3AE-CBE4-B20A-1C528DA0B1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40ECD34-E493-0598-16DC-32F2F0F8B8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719329"/>
            <a:ext cx="9603275" cy="1134426"/>
          </a:xfrm>
        </p:spPr>
        <p:txBody>
          <a:bodyPr>
            <a:normAutofit fontScale="90000"/>
          </a:bodyPr>
          <a:lstStyle/>
          <a:p>
            <a:r>
              <a:rPr kumimoji="1" lang="zh-TW" altLang="en-US" sz="5300" dirty="0"/>
              <a:t>系統需求</a:t>
            </a:r>
            <a:br>
              <a:rPr kumimoji="1" lang="en-US" altLang="zh-TW" sz="4800" dirty="0"/>
            </a:br>
            <a:r>
              <a:rPr kumimoji="1" lang="zh-TW" altLang="en-US" sz="3100" dirty="0"/>
              <a:t>商品管理功能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8D803FC-0866-D595-43AB-1623E04572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zh-TW" altLang="en-US" dirty="0"/>
              <a:t>每項商品必須包含商品編號、商品名稱、商品描述、價格、商品狀況與商品狀態。</a:t>
            </a:r>
            <a:endParaRPr lang="en-US" altLang="zh-TW" dirty="0"/>
          </a:p>
          <a:p>
            <a:pPr marL="457200" indent="-457200">
              <a:buFont typeface="+mj-lt"/>
              <a:buAutoNum type="arabicPeriod"/>
            </a:pPr>
            <a:r>
              <a:rPr lang="zh-TW" altLang="en-US" dirty="0"/>
              <a:t>商品必須隸屬於某一商品分類。</a:t>
            </a:r>
            <a:endParaRPr lang="en-US" altLang="zh-TW" dirty="0"/>
          </a:p>
          <a:p>
            <a:pPr marL="457200" indent="-457200">
              <a:buFont typeface="+mj-lt"/>
              <a:buAutoNum type="arabicPeriod"/>
            </a:pPr>
            <a:r>
              <a:rPr lang="zh-TW" altLang="en-US" dirty="0"/>
              <a:t>具有商品查詢功能，買家可以依商品分類或關鍵字快速找到商品。</a:t>
            </a:r>
            <a:endParaRPr lang="en-US" altLang="zh-TW" dirty="0"/>
          </a:p>
          <a:p>
            <a:pPr marL="457200" indent="-457200">
              <a:buFont typeface="+mj-lt"/>
              <a:buAutoNum type="arabicPeriod"/>
            </a:pPr>
            <a:r>
              <a:rPr lang="zh-TW" altLang="en-US" dirty="0"/>
              <a:t>商品狀態需能區分為上架中、已售出與已下架。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842BEDE-4B69-473C-D247-D98A0BDB59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TW" dirty="0"/>
              <a:t>4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87738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F3D212-B9E0-13CB-8FF3-B6730FAF6F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711F7B2-9C02-A89B-262A-80B8BF859D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719329"/>
            <a:ext cx="9603275" cy="1134426"/>
          </a:xfrm>
        </p:spPr>
        <p:txBody>
          <a:bodyPr>
            <a:normAutofit fontScale="90000"/>
          </a:bodyPr>
          <a:lstStyle/>
          <a:p>
            <a:r>
              <a:rPr kumimoji="1" lang="zh-TW" altLang="en-US" sz="5300" dirty="0"/>
              <a:t>系統需求</a:t>
            </a:r>
            <a:br>
              <a:rPr kumimoji="1" lang="en-US" altLang="zh-TW" sz="4800" dirty="0"/>
            </a:br>
            <a:r>
              <a:rPr kumimoji="1" lang="zh-TW" altLang="en-US" sz="3100" dirty="0"/>
              <a:t>訂單管理功能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4A297CA-C35D-D133-633B-2792615747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zh-TW" altLang="en-US" dirty="0"/>
              <a:t>當買家購買商品時，系統應建立一筆訂單資料。</a:t>
            </a:r>
            <a:endParaRPr lang="en-US" altLang="zh-TW" dirty="0"/>
          </a:p>
          <a:p>
            <a:pPr marL="457200" indent="-457200">
              <a:buFont typeface="+mj-lt"/>
              <a:buAutoNum type="arabicPeriod"/>
            </a:pPr>
            <a:r>
              <a:rPr lang="zh-TW" altLang="en-US" dirty="0"/>
              <a:t>每筆訂單需記錄訂單編號、訂單日期、訂單狀態與訂單總金額。</a:t>
            </a:r>
            <a:endParaRPr lang="en-US" altLang="zh-TW" dirty="0"/>
          </a:p>
          <a:p>
            <a:pPr marL="457200" indent="-457200">
              <a:buFont typeface="+mj-lt"/>
              <a:buAutoNum type="arabicPeriod"/>
            </a:pPr>
            <a:r>
              <a:rPr lang="zh-TW" altLang="en-US" dirty="0"/>
              <a:t>每筆訂單至少需包含一筆訂單明細，而每筆訂單明細需對應一項商品。</a:t>
            </a:r>
            <a:endParaRPr lang="en-US" altLang="zh-TW" dirty="0"/>
          </a:p>
          <a:p>
            <a:pPr marL="457200" indent="-457200">
              <a:buFont typeface="+mj-lt"/>
              <a:buAutoNum type="arabicPeriod"/>
            </a:pPr>
            <a:r>
              <a:rPr lang="zh-TW" altLang="en-US" dirty="0"/>
              <a:t>商品成交後不可再次被其他訂單購買。</a:t>
            </a:r>
            <a:endParaRPr lang="en-US" altLang="zh-TW" dirty="0"/>
          </a:p>
          <a:p>
            <a:pPr marL="457200" indent="-457200">
              <a:buFont typeface="+mj-lt"/>
              <a:buAutoNum type="arabicPeriod"/>
            </a:pPr>
            <a:r>
              <a:rPr lang="zh-TW" altLang="en-US" dirty="0"/>
              <a:t>提供訂單狀態追蹤，例如待付款、已付款、已出貨、已完成或已取消。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43DAB20-83A2-1E45-02F0-08188ADEFE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TW" dirty="0"/>
              <a:t>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22845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23DCA5-0DE7-B88E-32A3-DCE49AF070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27F3552-6582-573F-36A0-1D5BD4FE85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719329"/>
            <a:ext cx="9603275" cy="1134426"/>
          </a:xfrm>
        </p:spPr>
        <p:txBody>
          <a:bodyPr>
            <a:normAutofit fontScale="90000"/>
          </a:bodyPr>
          <a:lstStyle/>
          <a:p>
            <a:r>
              <a:rPr kumimoji="1" lang="zh-TW" altLang="en-US" sz="5300" dirty="0"/>
              <a:t>系統需求</a:t>
            </a:r>
            <a:br>
              <a:rPr kumimoji="1" lang="en-US" altLang="zh-TW" sz="4800" dirty="0"/>
            </a:br>
            <a:r>
              <a:rPr kumimoji="1" lang="zh-TW" altLang="en-US" sz="3100" dirty="0"/>
              <a:t>付款與發票管理功能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344B10E-7790-701C-17FD-05961E61D9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zh-TW" altLang="en-US" dirty="0"/>
              <a:t>在訂單成立後產生對應的發票或交易紀錄。</a:t>
            </a:r>
            <a:endParaRPr lang="en-US" altLang="zh-TW" dirty="0"/>
          </a:p>
          <a:p>
            <a:pPr marL="457200" indent="-457200">
              <a:buFont typeface="+mj-lt"/>
              <a:buAutoNum type="arabicPeriod"/>
            </a:pPr>
            <a:r>
              <a:rPr lang="zh-TW" altLang="en-US" dirty="0"/>
              <a:t>發票資料需記錄發票編號、交易金額、付款狀態與付款日期。</a:t>
            </a:r>
            <a:endParaRPr lang="en-US" altLang="zh-TW" dirty="0"/>
          </a:p>
          <a:p>
            <a:pPr marL="457200" indent="-457200">
              <a:buFont typeface="+mj-lt"/>
              <a:buAutoNum type="arabicPeriod"/>
            </a:pPr>
            <a:r>
              <a:rPr lang="zh-TW" altLang="en-US" dirty="0"/>
              <a:t>買家在付款時需選擇一種付款方式，例如信用卡、銀行轉帳、電子支付或貨到付款。</a:t>
            </a:r>
            <a:endParaRPr lang="en-US" altLang="zh-TW" dirty="0"/>
          </a:p>
          <a:p>
            <a:pPr marL="457200" indent="-457200">
              <a:buFont typeface="+mj-lt"/>
              <a:buAutoNum type="arabicPeriod"/>
            </a:pPr>
            <a:r>
              <a:rPr lang="zh-TW" altLang="en-US" dirty="0"/>
              <a:t>每張發票只能對應一種付款方式，而同一種付款方式可以被多張發票使用。</a:t>
            </a:r>
            <a:endParaRPr lang="en-US" altLang="zh-TW" dirty="0"/>
          </a:p>
          <a:p>
            <a:pPr marL="457200" indent="-457200">
              <a:buFont typeface="+mj-lt"/>
              <a:buAutoNum type="arabicPeriod"/>
            </a:pPr>
            <a:r>
              <a:rPr lang="zh-TW" altLang="en-US" dirty="0"/>
              <a:t>系統需記錄付款狀態，以確認訂單是否可以進入出貨流程。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FAB162B-12E4-A20F-2D0A-FDCAC3586F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TW" dirty="0"/>
              <a:t>6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86212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579CB4-1DF7-DCA9-9898-93841386CF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142BCB7-21E8-1CEA-0FC7-997A2FB405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719329"/>
            <a:ext cx="9603275" cy="1134426"/>
          </a:xfrm>
        </p:spPr>
        <p:txBody>
          <a:bodyPr>
            <a:normAutofit fontScale="90000"/>
          </a:bodyPr>
          <a:lstStyle/>
          <a:p>
            <a:r>
              <a:rPr kumimoji="1" lang="zh-TW" altLang="en-US" sz="5300" dirty="0"/>
              <a:t>系統需求</a:t>
            </a:r>
            <a:br>
              <a:rPr kumimoji="1" lang="en-US" altLang="zh-TW" sz="4800" dirty="0"/>
            </a:br>
            <a:r>
              <a:rPr kumimoji="1" lang="zh-TW" altLang="en-US" sz="3100" dirty="0"/>
              <a:t>出貨管理功能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EE357F0-3C66-8C03-7122-A17D35A389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zh-TW" altLang="en-US" dirty="0"/>
              <a:t>每筆出貨資料需記錄出貨編號、出貨日期與出貨狀態。</a:t>
            </a:r>
            <a:endParaRPr lang="en-US" altLang="zh-TW" dirty="0"/>
          </a:p>
          <a:p>
            <a:pPr marL="457200" indent="-457200">
              <a:buFont typeface="+mj-lt"/>
              <a:buAutoNum type="arabicPeriod"/>
            </a:pPr>
            <a:r>
              <a:rPr lang="zh-TW" altLang="en-US" dirty="0"/>
              <a:t>出貨資料需對應一種物流方式，例如超商取貨、宅配或面交。</a:t>
            </a:r>
            <a:endParaRPr lang="en-US" altLang="zh-TW" dirty="0"/>
          </a:p>
          <a:p>
            <a:pPr marL="457200" indent="-457200">
              <a:buFont typeface="+mj-lt"/>
              <a:buAutoNum type="arabicPeriod"/>
            </a:pPr>
            <a:r>
              <a:rPr lang="zh-TW" altLang="en-US" dirty="0"/>
              <a:t>買家可以透過系統查看出貨狀態，包含待出貨、已寄出、配送中與已送達。</a:t>
            </a:r>
            <a:endParaRPr lang="en-US" altLang="zh-TW" dirty="0"/>
          </a:p>
          <a:p>
            <a:pPr marL="457200" indent="-457200">
              <a:buFont typeface="+mj-lt"/>
              <a:buAutoNum type="arabicPeriod"/>
            </a:pPr>
            <a:r>
              <a:rPr lang="zh-TW" altLang="en-US" dirty="0"/>
              <a:t>出貨資料必須與訂單連結，以確保每筆交易皆可追蹤物流資訊。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42D302F-3C5A-D789-74F0-C68FD5D8C5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TW" dirty="0"/>
              <a:t>7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91092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59C11B-EF30-1376-687F-9973BD9D98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F357965-A167-26A1-B024-6C25748FAB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719329"/>
            <a:ext cx="9603275" cy="1134426"/>
          </a:xfrm>
        </p:spPr>
        <p:txBody>
          <a:bodyPr>
            <a:normAutofit fontScale="90000"/>
          </a:bodyPr>
          <a:lstStyle/>
          <a:p>
            <a:r>
              <a:rPr kumimoji="1" lang="zh-TW" altLang="en-US" sz="5300" dirty="0"/>
              <a:t>系統需求</a:t>
            </a:r>
            <a:br>
              <a:rPr kumimoji="1" lang="en-US" altLang="zh-TW" sz="4800" dirty="0"/>
            </a:br>
            <a:r>
              <a:rPr kumimoji="1" lang="zh-TW" altLang="en-US" sz="3100" dirty="0"/>
              <a:t>評價管理功能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D32AA31-0618-589C-E893-AAB08E9EE5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zh-TW" altLang="en-US" dirty="0"/>
              <a:t>買家可針對該筆交易留下評價。</a:t>
            </a:r>
            <a:endParaRPr lang="en-US" altLang="zh-TW" dirty="0"/>
          </a:p>
          <a:p>
            <a:pPr marL="457200" indent="-457200">
              <a:buFont typeface="+mj-lt"/>
              <a:buAutoNum type="arabicPeriod"/>
            </a:pPr>
            <a:r>
              <a:rPr lang="zh-TW" altLang="en-US" dirty="0"/>
              <a:t>評價資料包含評價編號、評分、評論內容與評價日期。</a:t>
            </a:r>
            <a:endParaRPr lang="en-US" altLang="zh-TW" dirty="0"/>
          </a:p>
          <a:p>
            <a:pPr marL="457200" indent="-457200">
              <a:buFont typeface="+mj-lt"/>
              <a:buAutoNum type="arabicPeriod"/>
            </a:pPr>
            <a:r>
              <a:rPr lang="zh-TW" altLang="en-US" dirty="0"/>
              <a:t>評分範圍限制在 </a:t>
            </a:r>
            <a:r>
              <a:rPr lang="en-US" altLang="zh-TW" dirty="0"/>
              <a:t>1 </a:t>
            </a:r>
            <a:r>
              <a:rPr lang="zh-TW" altLang="en-US" dirty="0"/>
              <a:t>至 </a:t>
            </a:r>
            <a:r>
              <a:rPr lang="en-US" altLang="zh-TW" dirty="0"/>
              <a:t>5 </a:t>
            </a:r>
            <a:r>
              <a:rPr lang="zh-TW" altLang="en-US" dirty="0"/>
              <a:t>分之間。</a:t>
            </a:r>
            <a:endParaRPr lang="en-US" altLang="zh-TW" dirty="0"/>
          </a:p>
          <a:p>
            <a:pPr marL="457200" indent="-457200">
              <a:buFont typeface="+mj-lt"/>
              <a:buAutoNum type="arabicPeriod"/>
            </a:pPr>
            <a:r>
              <a:rPr lang="zh-TW" altLang="en-US" dirty="0"/>
              <a:t>每筆評價應對應一筆訂單，以確保評價是基於真實交易產生。</a:t>
            </a:r>
            <a:endParaRPr lang="en-US" altLang="zh-TW" dirty="0"/>
          </a:p>
          <a:p>
            <a:pPr marL="457200" indent="-457200">
              <a:buFont typeface="+mj-lt"/>
              <a:buAutoNum type="arabicPeriod"/>
            </a:pPr>
            <a:r>
              <a:rPr lang="zh-TW" altLang="en-US" dirty="0"/>
              <a:t>透過評價資料累積賣家的信譽，可協助其他買家判斷交易對象是否可靠。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95B18ED-9613-2E18-3559-8C431CF7D5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TW" dirty="0"/>
              <a:t>8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56777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531578-F37A-1377-9278-D5CAF54E71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64D5074-782E-AF2E-931E-BD5190AF95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719329"/>
            <a:ext cx="9603275" cy="1134426"/>
          </a:xfrm>
        </p:spPr>
        <p:txBody>
          <a:bodyPr>
            <a:normAutofit/>
          </a:bodyPr>
          <a:lstStyle/>
          <a:p>
            <a:r>
              <a:rPr kumimoji="1" lang="zh-TW" altLang="en-US" sz="4800" dirty="0"/>
              <a:t>完整性限制</a:t>
            </a:r>
          </a:p>
        </p:txBody>
      </p:sp>
      <p:graphicFrame>
        <p:nvGraphicFramePr>
          <p:cNvPr id="8" name="內容版面配置區 7">
            <a:extLst>
              <a:ext uri="{FF2B5EF4-FFF2-40B4-BE49-F238E27FC236}">
                <a16:creationId xmlns:a16="http://schemas.microsoft.com/office/drawing/2014/main" id="{337CFF14-3BE9-4E5F-D0B2-5838ED5FF97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39636075"/>
              </p:ext>
            </p:extLst>
          </p:nvPr>
        </p:nvGraphicFramePr>
        <p:xfrm>
          <a:off x="1450975" y="2016125"/>
          <a:ext cx="9603276" cy="3596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1092">
                  <a:extLst>
                    <a:ext uri="{9D8B030D-6E8A-4147-A177-3AD203B41FA5}">
                      <a16:colId xmlns:a16="http://schemas.microsoft.com/office/drawing/2014/main" val="2919496033"/>
                    </a:ext>
                  </a:extLst>
                </a:gridCol>
                <a:gridCol w="3201092">
                  <a:extLst>
                    <a:ext uri="{9D8B030D-6E8A-4147-A177-3AD203B41FA5}">
                      <a16:colId xmlns:a16="http://schemas.microsoft.com/office/drawing/2014/main" val="1930751332"/>
                    </a:ext>
                  </a:extLst>
                </a:gridCol>
                <a:gridCol w="3201092">
                  <a:extLst>
                    <a:ext uri="{9D8B030D-6E8A-4147-A177-3AD203B41FA5}">
                      <a16:colId xmlns:a16="http://schemas.microsoft.com/office/drawing/2014/main" val="3921762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2000"/>
                        <a:t>Entity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2000" dirty="0"/>
                        <a:t>Attribute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2000" dirty="0"/>
                        <a:t>Domain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008699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2000" dirty="0"/>
                        <a:t>Member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000" dirty="0" err="1"/>
                        <a:t>mID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2000" dirty="0"/>
                        <a:t>主鍵，不可為 </a:t>
                      </a:r>
                      <a:r>
                        <a:rPr lang="en-US" altLang="zh-TW" sz="2000" dirty="0"/>
                        <a:t>NULL</a:t>
                      </a:r>
                      <a:r>
                        <a:rPr lang="zh-TW" altLang="en-US" sz="2000" dirty="0"/>
                        <a:t>，不可重複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97009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2000" dirty="0"/>
                        <a:t>Member</a:t>
                      </a:r>
                      <a:endParaRPr lang="en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TW" sz="2000" dirty="0" err="1"/>
                        <a:t>mAccount</a:t>
                      </a:r>
                      <a:r>
                        <a:rPr lang="en-US" altLang="zh-TW" sz="2000" dirty="0"/>
                        <a:t> 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2000" dirty="0"/>
                        <a:t>不可為 </a:t>
                      </a:r>
                      <a:r>
                        <a:rPr lang="en-US" altLang="zh-TW" sz="2000" dirty="0"/>
                        <a:t>NULL</a:t>
                      </a:r>
                      <a:r>
                        <a:rPr lang="zh-TW" altLang="en-US" sz="2000" dirty="0"/>
                        <a:t>，不可重複，長度 </a:t>
                      </a:r>
                      <a:r>
                        <a:rPr lang="en-US" altLang="zh-TW" sz="2000" dirty="0"/>
                        <a:t>6</a:t>
                      </a:r>
                      <a:r>
                        <a:rPr lang="zh-TW" altLang="en-US" sz="2000" dirty="0"/>
                        <a:t>～</a:t>
                      </a:r>
                      <a:r>
                        <a:rPr lang="en-US" altLang="zh-TW" sz="2000" dirty="0"/>
                        <a:t>30 </a:t>
                      </a:r>
                      <a:r>
                        <a:rPr lang="zh-TW" altLang="en-US" sz="2000" dirty="0"/>
                        <a:t>字元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91976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2000" dirty="0"/>
                        <a:t>Member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000" dirty="0" err="1"/>
                        <a:t>mName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2000" dirty="0"/>
                        <a:t>不可為 </a:t>
                      </a:r>
                      <a:r>
                        <a:rPr lang="en-US" altLang="zh-TW" sz="2000" dirty="0"/>
                        <a:t>NULL</a:t>
                      </a:r>
                      <a:r>
                        <a:rPr lang="zh-TW" altLang="en-US" sz="2000" dirty="0"/>
                        <a:t>，長度 </a:t>
                      </a:r>
                      <a:r>
                        <a:rPr lang="en-US" altLang="zh-TW" sz="2000" dirty="0"/>
                        <a:t>1</a:t>
                      </a:r>
                      <a:r>
                        <a:rPr lang="zh-TW" altLang="en-US" sz="2000" dirty="0"/>
                        <a:t>～</a:t>
                      </a:r>
                      <a:r>
                        <a:rPr lang="en-US" altLang="zh-TW" sz="2000" dirty="0"/>
                        <a:t>50 </a:t>
                      </a:r>
                      <a:r>
                        <a:rPr lang="zh-TW" altLang="en-US" sz="2000" dirty="0"/>
                        <a:t>字元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34925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2000" dirty="0"/>
                        <a:t>Member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000" dirty="0" err="1"/>
                        <a:t>mEmail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000" dirty="0"/>
                        <a:t>不可為 </a:t>
                      </a:r>
                      <a:r>
                        <a:rPr lang="en-US" altLang="zh-TW" sz="2000" dirty="0"/>
                        <a:t>NULL</a:t>
                      </a:r>
                      <a:r>
                        <a:rPr lang="zh-TW" altLang="en-US" sz="2000" dirty="0"/>
                        <a:t>，不可重複，需符合 </a:t>
                      </a:r>
                      <a:r>
                        <a:rPr lang="en-US" altLang="zh-TW" sz="2000" dirty="0"/>
                        <a:t>Email </a:t>
                      </a:r>
                      <a:r>
                        <a:rPr lang="zh-TW" altLang="en-US" sz="2000" dirty="0"/>
                        <a:t>格式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3150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2000" dirty="0"/>
                        <a:t>Member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000" dirty="0" err="1"/>
                        <a:t>mPhone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2000" dirty="0"/>
                        <a:t>需符合電話格式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3996448"/>
                  </a:ext>
                </a:extLst>
              </a:tr>
            </a:tbl>
          </a:graphicData>
        </a:graphic>
      </p:graphicFrame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2486487B-582D-7731-FE9F-AE0AF5FB6C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TW" dirty="0"/>
              <a:t>9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62312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BDB599-09E5-4B22-1140-8DDB31624C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D4CA036-62FB-EC6B-AD0F-58100C7BCD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719329"/>
            <a:ext cx="9603275" cy="1134426"/>
          </a:xfrm>
        </p:spPr>
        <p:txBody>
          <a:bodyPr>
            <a:normAutofit/>
          </a:bodyPr>
          <a:lstStyle/>
          <a:p>
            <a:r>
              <a:rPr kumimoji="1" lang="zh-TW" altLang="en-US" sz="4800" dirty="0"/>
              <a:t>完整性限制</a:t>
            </a:r>
          </a:p>
        </p:txBody>
      </p:sp>
      <p:graphicFrame>
        <p:nvGraphicFramePr>
          <p:cNvPr id="8" name="內容版面配置區 7">
            <a:extLst>
              <a:ext uri="{FF2B5EF4-FFF2-40B4-BE49-F238E27FC236}">
                <a16:creationId xmlns:a16="http://schemas.microsoft.com/office/drawing/2014/main" id="{D67F3916-E3FD-40DB-9B73-3727FFD969E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86263598"/>
              </p:ext>
            </p:extLst>
          </p:nvPr>
        </p:nvGraphicFramePr>
        <p:xfrm>
          <a:off x="1450975" y="2016125"/>
          <a:ext cx="9603276" cy="3901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1092">
                  <a:extLst>
                    <a:ext uri="{9D8B030D-6E8A-4147-A177-3AD203B41FA5}">
                      <a16:colId xmlns:a16="http://schemas.microsoft.com/office/drawing/2014/main" val="2919496033"/>
                    </a:ext>
                  </a:extLst>
                </a:gridCol>
                <a:gridCol w="3201092">
                  <a:extLst>
                    <a:ext uri="{9D8B030D-6E8A-4147-A177-3AD203B41FA5}">
                      <a16:colId xmlns:a16="http://schemas.microsoft.com/office/drawing/2014/main" val="1930751332"/>
                    </a:ext>
                  </a:extLst>
                </a:gridCol>
                <a:gridCol w="3201092">
                  <a:extLst>
                    <a:ext uri="{9D8B030D-6E8A-4147-A177-3AD203B41FA5}">
                      <a16:colId xmlns:a16="http://schemas.microsoft.com/office/drawing/2014/main" val="3921762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2000" dirty="0"/>
                        <a:t>Entity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2000" dirty="0"/>
                        <a:t>Attribute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2000" dirty="0"/>
                        <a:t>Domain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008699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2000" dirty="0"/>
                        <a:t>Member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000" dirty="0" err="1"/>
                        <a:t>mRole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2000" dirty="0"/>
                        <a:t>不可為 </a:t>
                      </a:r>
                      <a:r>
                        <a:rPr lang="en-US" altLang="zh-TW" sz="2000" dirty="0"/>
                        <a:t>NULL</a:t>
                      </a:r>
                      <a:r>
                        <a:rPr lang="zh-TW" altLang="en-US" sz="2000" dirty="0"/>
                        <a:t>，「買家」、「賣家」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97009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" sz="2000" dirty="0"/>
                        <a:t>Member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TW" sz="2000" dirty="0" err="1"/>
                        <a:t>createDate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2000" dirty="0"/>
                        <a:t>不可為 </a:t>
                      </a:r>
                      <a:r>
                        <a:rPr lang="en-US" altLang="zh-TW" sz="2000" dirty="0"/>
                        <a:t>NULL</a:t>
                      </a:r>
                      <a:r>
                        <a:rPr lang="zh-TW" altLang="en-US" sz="2000" dirty="0"/>
                        <a:t>，日期不可晚於系統目前日期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91976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2000" dirty="0"/>
                        <a:t>Product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000" dirty="0" err="1"/>
                        <a:t>pID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2000" dirty="0"/>
                        <a:t>主鍵，不可為 </a:t>
                      </a:r>
                      <a:r>
                        <a:rPr lang="en-US" altLang="zh-TW" sz="2000" dirty="0"/>
                        <a:t>NULL</a:t>
                      </a:r>
                      <a:r>
                        <a:rPr lang="zh-TW" altLang="en-US" sz="2000" dirty="0"/>
                        <a:t>，不可重複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34925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2000" dirty="0"/>
                        <a:t>Product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000" dirty="0" err="1"/>
                        <a:t>pName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000" dirty="0"/>
                        <a:t>不可為 </a:t>
                      </a:r>
                      <a:r>
                        <a:rPr lang="en-US" altLang="zh-TW" sz="2000" dirty="0"/>
                        <a:t>NULL</a:t>
                      </a:r>
                      <a:r>
                        <a:rPr lang="zh-TW" altLang="en-US" sz="2000" dirty="0"/>
                        <a:t>，長度 </a:t>
                      </a:r>
                      <a:r>
                        <a:rPr lang="en-US" altLang="zh-TW" sz="2000" dirty="0"/>
                        <a:t>1</a:t>
                      </a:r>
                      <a:r>
                        <a:rPr lang="zh-TW" altLang="en-US" sz="2000" dirty="0"/>
                        <a:t>～</a:t>
                      </a:r>
                      <a:r>
                        <a:rPr lang="en-US" altLang="zh-TW" sz="2000" dirty="0"/>
                        <a:t>100 </a:t>
                      </a:r>
                      <a:r>
                        <a:rPr lang="zh-TW" altLang="en-US" sz="2000" dirty="0"/>
                        <a:t>字元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3150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2000" dirty="0"/>
                        <a:t>Product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000" dirty="0"/>
                        <a:t>description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2000" dirty="0"/>
                        <a:t>可為 </a:t>
                      </a:r>
                      <a:r>
                        <a:rPr lang="en-US" altLang="zh-TW" sz="2000" dirty="0"/>
                        <a:t>NULL</a:t>
                      </a:r>
                      <a:r>
                        <a:rPr lang="zh-TW" altLang="en-US" sz="2000" dirty="0"/>
                        <a:t>，長度不超過 </a:t>
                      </a:r>
                      <a:r>
                        <a:rPr lang="en-US" altLang="zh-TW" sz="2000" dirty="0"/>
                        <a:t>500 </a:t>
                      </a:r>
                      <a:r>
                        <a:rPr lang="zh-TW" altLang="en-US" sz="2000" dirty="0"/>
                        <a:t>字元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3996448"/>
                  </a:ext>
                </a:extLst>
              </a:tr>
            </a:tbl>
          </a:graphicData>
        </a:graphic>
      </p:graphicFrame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2584338-F0E7-E1E6-0B85-95769EDA61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TW" dirty="0"/>
              <a:t>10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88251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0F1F9E-7FC2-21D2-CD04-400E9C046A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96FDE4B-2F8E-A9A1-994D-9A4E455132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719329"/>
            <a:ext cx="9603275" cy="1134426"/>
          </a:xfrm>
        </p:spPr>
        <p:txBody>
          <a:bodyPr>
            <a:normAutofit/>
          </a:bodyPr>
          <a:lstStyle/>
          <a:p>
            <a:r>
              <a:rPr kumimoji="1" lang="zh-TW" altLang="en-US" sz="4800" dirty="0"/>
              <a:t>完整性限制</a:t>
            </a:r>
          </a:p>
        </p:txBody>
      </p:sp>
      <p:graphicFrame>
        <p:nvGraphicFramePr>
          <p:cNvPr id="8" name="內容版面配置區 7">
            <a:extLst>
              <a:ext uri="{FF2B5EF4-FFF2-40B4-BE49-F238E27FC236}">
                <a16:creationId xmlns:a16="http://schemas.microsoft.com/office/drawing/2014/main" id="{6CAB6713-CFE9-BEF8-03D1-C9376BB5957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68915837"/>
              </p:ext>
            </p:extLst>
          </p:nvPr>
        </p:nvGraphicFramePr>
        <p:xfrm>
          <a:off x="1450975" y="2016125"/>
          <a:ext cx="9603276" cy="3718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1092">
                  <a:extLst>
                    <a:ext uri="{9D8B030D-6E8A-4147-A177-3AD203B41FA5}">
                      <a16:colId xmlns:a16="http://schemas.microsoft.com/office/drawing/2014/main" val="2919496033"/>
                    </a:ext>
                  </a:extLst>
                </a:gridCol>
                <a:gridCol w="3201092">
                  <a:extLst>
                    <a:ext uri="{9D8B030D-6E8A-4147-A177-3AD203B41FA5}">
                      <a16:colId xmlns:a16="http://schemas.microsoft.com/office/drawing/2014/main" val="1930751332"/>
                    </a:ext>
                  </a:extLst>
                </a:gridCol>
                <a:gridCol w="3201092">
                  <a:extLst>
                    <a:ext uri="{9D8B030D-6E8A-4147-A177-3AD203B41FA5}">
                      <a16:colId xmlns:a16="http://schemas.microsoft.com/office/drawing/2014/main" val="3921762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2000" dirty="0"/>
                        <a:t>Entity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2000" dirty="0"/>
                        <a:t>Attribute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2000" dirty="0"/>
                        <a:t>Domain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008699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2000" dirty="0"/>
                        <a:t>Product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000" dirty="0"/>
                        <a:t>price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000" dirty="0"/>
                        <a:t>不可為 </a:t>
                      </a:r>
                      <a:r>
                        <a:rPr lang="en-US" altLang="zh-TW" sz="2000" dirty="0"/>
                        <a:t>NULL</a:t>
                      </a:r>
                      <a:r>
                        <a:rPr lang="zh-TW" altLang="en-US" sz="2000" dirty="0"/>
                        <a:t>，數值必須大於 </a:t>
                      </a: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97009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2000" dirty="0"/>
                        <a:t>Product</a:t>
                      </a:r>
                      <a:endParaRPr lang="en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TW" sz="2000" dirty="0" err="1"/>
                        <a:t>pCondition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2000" dirty="0"/>
                        <a:t>不可為 </a:t>
                      </a:r>
                      <a:r>
                        <a:rPr lang="en-US" altLang="zh-TW" sz="2000" dirty="0"/>
                        <a:t>NULL</a:t>
                      </a:r>
                      <a:r>
                        <a:rPr lang="zh-TW" altLang="en-US" sz="2000" dirty="0"/>
                        <a:t>，值只能是「全新」、「幾乎全新」、「九成新」、「七成新」、「使用痕跡明顯」、「故障品」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91976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2000" dirty="0"/>
                        <a:t>Product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000" dirty="0" err="1"/>
                        <a:t>pStatus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000" dirty="0"/>
                        <a:t>不可為 </a:t>
                      </a:r>
                      <a:r>
                        <a:rPr lang="en-US" altLang="zh-TW" sz="2000" dirty="0"/>
                        <a:t>NULL</a:t>
                      </a:r>
                      <a:r>
                        <a:rPr lang="zh-TW" altLang="en-US" sz="2000" dirty="0"/>
                        <a:t>，值只能是「上架中」、「已售出」、「已下架」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3492593"/>
                  </a:ext>
                </a:extLst>
              </a:tr>
            </a:tbl>
          </a:graphicData>
        </a:graphic>
      </p:graphicFrame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B713B7B5-1673-0A7C-02BD-30A97FFE6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TW" dirty="0"/>
              <a:t>11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73874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3D1A57-62DA-8B5E-DC8E-24B335C4E5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6C9CF9A-0071-65E5-A934-BB8A6F9383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719329"/>
            <a:ext cx="9603275" cy="1134426"/>
          </a:xfrm>
        </p:spPr>
        <p:txBody>
          <a:bodyPr>
            <a:normAutofit/>
          </a:bodyPr>
          <a:lstStyle/>
          <a:p>
            <a:r>
              <a:rPr kumimoji="1" lang="zh-TW" altLang="en-US" sz="4800" dirty="0"/>
              <a:t>完整性限制</a:t>
            </a:r>
          </a:p>
        </p:txBody>
      </p:sp>
      <p:graphicFrame>
        <p:nvGraphicFramePr>
          <p:cNvPr id="8" name="內容版面配置區 7">
            <a:extLst>
              <a:ext uri="{FF2B5EF4-FFF2-40B4-BE49-F238E27FC236}">
                <a16:creationId xmlns:a16="http://schemas.microsoft.com/office/drawing/2014/main" id="{50A24663-07F2-6B89-47D8-6AF1E8746A7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64721179"/>
              </p:ext>
            </p:extLst>
          </p:nvPr>
        </p:nvGraphicFramePr>
        <p:xfrm>
          <a:off x="1450975" y="2016125"/>
          <a:ext cx="9603276" cy="3901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1092">
                  <a:extLst>
                    <a:ext uri="{9D8B030D-6E8A-4147-A177-3AD203B41FA5}">
                      <a16:colId xmlns:a16="http://schemas.microsoft.com/office/drawing/2014/main" val="2919496033"/>
                    </a:ext>
                  </a:extLst>
                </a:gridCol>
                <a:gridCol w="3201092">
                  <a:extLst>
                    <a:ext uri="{9D8B030D-6E8A-4147-A177-3AD203B41FA5}">
                      <a16:colId xmlns:a16="http://schemas.microsoft.com/office/drawing/2014/main" val="1930751332"/>
                    </a:ext>
                  </a:extLst>
                </a:gridCol>
                <a:gridCol w="3201092">
                  <a:extLst>
                    <a:ext uri="{9D8B030D-6E8A-4147-A177-3AD203B41FA5}">
                      <a16:colId xmlns:a16="http://schemas.microsoft.com/office/drawing/2014/main" val="3921762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2000" dirty="0"/>
                        <a:t>Entity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2000" dirty="0"/>
                        <a:t>Attribute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2000" dirty="0"/>
                        <a:t>Domain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008699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2000" dirty="0"/>
                        <a:t>Product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000" dirty="0" err="1"/>
                        <a:t>postDate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000" dirty="0"/>
                        <a:t>不可為 </a:t>
                      </a:r>
                      <a:r>
                        <a:rPr lang="en-US" altLang="zh-TW" sz="2000" dirty="0"/>
                        <a:t>NULL</a:t>
                      </a:r>
                      <a:r>
                        <a:rPr lang="zh-TW" altLang="en-US" sz="2000" dirty="0"/>
                        <a:t>，日期不可晚於系統目前日期</a:t>
                      </a:r>
                      <a:endParaRPr lang="en-US" altLang="zh-TW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97009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2000" dirty="0"/>
                        <a:t>Category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TW" sz="2000" dirty="0" err="1"/>
                        <a:t>cID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2000" dirty="0"/>
                        <a:t>主鍵，不可為 </a:t>
                      </a:r>
                      <a:r>
                        <a:rPr lang="en-US" altLang="zh-TW" sz="2000" dirty="0"/>
                        <a:t>NULL</a:t>
                      </a:r>
                      <a:r>
                        <a:rPr lang="zh-TW" altLang="en-US" sz="2000" dirty="0"/>
                        <a:t>，不可重複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91976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" altLang="zh-TW" sz="2000" dirty="0"/>
                        <a:t>Category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000" dirty="0" err="1"/>
                        <a:t>cName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000" dirty="0"/>
                        <a:t>不可為 </a:t>
                      </a:r>
                      <a:r>
                        <a:rPr lang="en-US" altLang="zh-TW" sz="2000" dirty="0"/>
                        <a:t>NULL</a:t>
                      </a:r>
                      <a:r>
                        <a:rPr lang="zh-TW" altLang="en-US" sz="2000" dirty="0"/>
                        <a:t>，不可重複，長度 </a:t>
                      </a:r>
                      <a:r>
                        <a:rPr lang="en-US" altLang="zh-TW" sz="2000" dirty="0"/>
                        <a:t>1</a:t>
                      </a:r>
                      <a:r>
                        <a:rPr lang="zh-TW" altLang="en-US" sz="2000" dirty="0"/>
                        <a:t>～</a:t>
                      </a:r>
                      <a:r>
                        <a:rPr lang="en-US" altLang="zh-TW" sz="2000" dirty="0"/>
                        <a:t>50 </a:t>
                      </a:r>
                      <a:r>
                        <a:rPr lang="zh-TW" altLang="en-US" sz="2000" dirty="0"/>
                        <a:t>字元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34925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" altLang="zh-TW" sz="2000" dirty="0"/>
                        <a:t>Category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000" dirty="0" err="1"/>
                        <a:t>cDescription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000" dirty="0"/>
                        <a:t>可為 </a:t>
                      </a:r>
                      <a:r>
                        <a:rPr lang="en-US" altLang="zh-TW" sz="2000" dirty="0"/>
                        <a:t>NULL</a:t>
                      </a:r>
                      <a:r>
                        <a:rPr lang="zh-TW" altLang="en-US" sz="2000" dirty="0"/>
                        <a:t>，長度不超過 </a:t>
                      </a:r>
                      <a:r>
                        <a:rPr lang="en-US" altLang="zh-TW" sz="2000" dirty="0"/>
                        <a:t>200 </a:t>
                      </a:r>
                      <a:r>
                        <a:rPr lang="zh-TW" altLang="en-US" sz="2000" dirty="0"/>
                        <a:t>字元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3150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2000" dirty="0"/>
                        <a:t>Order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000" dirty="0" err="1"/>
                        <a:t>oID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000" dirty="0"/>
                        <a:t>主鍵，不可為 </a:t>
                      </a:r>
                      <a:r>
                        <a:rPr lang="en-US" altLang="zh-TW" sz="2000" dirty="0"/>
                        <a:t>NULL</a:t>
                      </a:r>
                      <a:r>
                        <a:rPr lang="zh-TW" altLang="en-US" sz="2000" dirty="0"/>
                        <a:t>，不可重複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3996448"/>
                  </a:ext>
                </a:extLst>
              </a:tr>
            </a:tbl>
          </a:graphicData>
        </a:graphic>
      </p:graphicFrame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6D6DB295-FAA5-88BD-F63D-4860075FD1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TW" dirty="0"/>
              <a:t>12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09775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9F340C-A1EB-D6B1-C2FC-502E3410BB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E8D1CC2-8122-62A5-865D-4E157D4FC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719329"/>
            <a:ext cx="9603275" cy="1134426"/>
          </a:xfrm>
        </p:spPr>
        <p:txBody>
          <a:bodyPr>
            <a:normAutofit/>
          </a:bodyPr>
          <a:lstStyle/>
          <a:p>
            <a:r>
              <a:rPr kumimoji="1" lang="zh-TW" altLang="en-US" sz="4800" dirty="0"/>
              <a:t>完整性限制</a:t>
            </a:r>
          </a:p>
        </p:txBody>
      </p:sp>
      <p:graphicFrame>
        <p:nvGraphicFramePr>
          <p:cNvPr id="8" name="內容版面配置區 7">
            <a:extLst>
              <a:ext uri="{FF2B5EF4-FFF2-40B4-BE49-F238E27FC236}">
                <a16:creationId xmlns:a16="http://schemas.microsoft.com/office/drawing/2014/main" id="{8EADFA21-0EB2-9684-78E7-1C361A253E8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55615414"/>
              </p:ext>
            </p:extLst>
          </p:nvPr>
        </p:nvGraphicFramePr>
        <p:xfrm>
          <a:off x="1450975" y="2016125"/>
          <a:ext cx="9603276" cy="3718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1092">
                  <a:extLst>
                    <a:ext uri="{9D8B030D-6E8A-4147-A177-3AD203B41FA5}">
                      <a16:colId xmlns:a16="http://schemas.microsoft.com/office/drawing/2014/main" val="2919496033"/>
                    </a:ext>
                  </a:extLst>
                </a:gridCol>
                <a:gridCol w="3201092">
                  <a:extLst>
                    <a:ext uri="{9D8B030D-6E8A-4147-A177-3AD203B41FA5}">
                      <a16:colId xmlns:a16="http://schemas.microsoft.com/office/drawing/2014/main" val="1930751332"/>
                    </a:ext>
                  </a:extLst>
                </a:gridCol>
                <a:gridCol w="3201092">
                  <a:extLst>
                    <a:ext uri="{9D8B030D-6E8A-4147-A177-3AD203B41FA5}">
                      <a16:colId xmlns:a16="http://schemas.microsoft.com/office/drawing/2014/main" val="3921762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2000" dirty="0"/>
                        <a:t>Entity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2000" dirty="0"/>
                        <a:t>Attribute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2000" dirty="0"/>
                        <a:t>Domain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008699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2000" dirty="0"/>
                        <a:t>Order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000" dirty="0" err="1"/>
                        <a:t>oDate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2000" dirty="0"/>
                        <a:t>不可為 </a:t>
                      </a:r>
                      <a:r>
                        <a:rPr lang="en-US" altLang="zh-TW" sz="2000" dirty="0"/>
                        <a:t>NULL</a:t>
                      </a:r>
                      <a:r>
                        <a:rPr lang="zh-TW" altLang="en-US" sz="2000" dirty="0"/>
                        <a:t>，日期不可晚於系統目前日期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97009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2000" dirty="0"/>
                        <a:t>Order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000" dirty="0" err="1"/>
                        <a:t>oStatus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000" dirty="0"/>
                        <a:t>不可為 </a:t>
                      </a:r>
                      <a:r>
                        <a:rPr lang="en-US" altLang="zh-TW" sz="2000" dirty="0"/>
                        <a:t>NULL</a:t>
                      </a:r>
                      <a:r>
                        <a:rPr lang="zh-TW" altLang="en-US" sz="2000" dirty="0"/>
                        <a:t>，值只能是「待付款」、「已付款」、「已出貨」、「已完成」、「已取消」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91976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2000" dirty="0"/>
                        <a:t>Order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000" dirty="0" err="1"/>
                        <a:t>totalAmount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000" dirty="0"/>
                        <a:t>不可為 </a:t>
                      </a:r>
                      <a:r>
                        <a:rPr lang="en-US" altLang="zh-TW" sz="2000" dirty="0"/>
                        <a:t>NULL</a:t>
                      </a:r>
                      <a:r>
                        <a:rPr lang="zh-TW" altLang="en-US" sz="2000" dirty="0"/>
                        <a:t>，數值必須大於或等於 </a:t>
                      </a:r>
                      <a:r>
                        <a:rPr lang="en-US" altLang="zh-TW" sz="2000" dirty="0"/>
                        <a:t>0</a:t>
                      </a:r>
                      <a:r>
                        <a:rPr lang="zh-TW" altLang="en-US" sz="2000" dirty="0"/>
                        <a:t>，且應等於該訂單所有 </a:t>
                      </a:r>
                      <a:r>
                        <a:rPr lang="en-US" altLang="zh-TW" sz="2000" dirty="0" err="1"/>
                        <a:t>OrderDetail</a:t>
                      </a:r>
                      <a:r>
                        <a:rPr lang="en-US" altLang="zh-TW" sz="2000" dirty="0"/>
                        <a:t> </a:t>
                      </a:r>
                      <a:r>
                        <a:rPr lang="zh-TW" altLang="en-US" sz="2000" dirty="0"/>
                        <a:t>的成交金額總和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3492593"/>
                  </a:ext>
                </a:extLst>
              </a:tr>
            </a:tbl>
          </a:graphicData>
        </a:graphic>
      </p:graphicFrame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9B2CCC48-FD06-688A-C80C-84FABD0CBB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TW" dirty="0"/>
              <a:t>13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22458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40034D-8C4A-E2D4-E2C7-72CDD30D5E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B8C93A6-E085-D82F-D32B-A83EC2965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719329"/>
            <a:ext cx="9603275" cy="1134426"/>
          </a:xfrm>
        </p:spPr>
        <p:txBody>
          <a:bodyPr>
            <a:normAutofit/>
          </a:bodyPr>
          <a:lstStyle/>
          <a:p>
            <a:r>
              <a:rPr kumimoji="1" lang="zh-TW" altLang="en-US" sz="4800" dirty="0"/>
              <a:t>完整性限制</a:t>
            </a:r>
          </a:p>
        </p:txBody>
      </p:sp>
      <p:graphicFrame>
        <p:nvGraphicFramePr>
          <p:cNvPr id="8" name="內容版面配置區 7">
            <a:extLst>
              <a:ext uri="{FF2B5EF4-FFF2-40B4-BE49-F238E27FC236}">
                <a16:creationId xmlns:a16="http://schemas.microsoft.com/office/drawing/2014/main" id="{0C4DB2BE-E6BB-7EB0-79DB-7CA3FD4D113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46875686"/>
              </p:ext>
            </p:extLst>
          </p:nvPr>
        </p:nvGraphicFramePr>
        <p:xfrm>
          <a:off x="1450975" y="2016125"/>
          <a:ext cx="9603276" cy="3901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1092">
                  <a:extLst>
                    <a:ext uri="{9D8B030D-6E8A-4147-A177-3AD203B41FA5}">
                      <a16:colId xmlns:a16="http://schemas.microsoft.com/office/drawing/2014/main" val="2919496033"/>
                    </a:ext>
                  </a:extLst>
                </a:gridCol>
                <a:gridCol w="3201092">
                  <a:extLst>
                    <a:ext uri="{9D8B030D-6E8A-4147-A177-3AD203B41FA5}">
                      <a16:colId xmlns:a16="http://schemas.microsoft.com/office/drawing/2014/main" val="1930751332"/>
                    </a:ext>
                  </a:extLst>
                </a:gridCol>
                <a:gridCol w="3201092">
                  <a:extLst>
                    <a:ext uri="{9D8B030D-6E8A-4147-A177-3AD203B41FA5}">
                      <a16:colId xmlns:a16="http://schemas.microsoft.com/office/drawing/2014/main" val="3921762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2000"/>
                        <a:t>Entity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2000" dirty="0"/>
                        <a:t>Attribute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2000" dirty="0"/>
                        <a:t>Domain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008699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2000" dirty="0" err="1"/>
                        <a:t>OrderDetail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000" dirty="0" err="1"/>
                        <a:t>odID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000" dirty="0"/>
                        <a:t>主鍵，不可為 </a:t>
                      </a:r>
                      <a:r>
                        <a:rPr lang="en-US" altLang="zh-TW" sz="2000" dirty="0"/>
                        <a:t>NULL</a:t>
                      </a:r>
                      <a:r>
                        <a:rPr lang="zh-TW" altLang="en-US" sz="2000" dirty="0"/>
                        <a:t>，不可重複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97009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2000" dirty="0" err="1"/>
                        <a:t>OrderDetail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000" dirty="0"/>
                        <a:t>quantity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000" dirty="0"/>
                        <a:t>不可為 </a:t>
                      </a:r>
                      <a:r>
                        <a:rPr lang="en-US" altLang="zh-TW" sz="2000" dirty="0"/>
                        <a:t>NULL</a:t>
                      </a:r>
                      <a:r>
                        <a:rPr lang="zh-TW" altLang="en-US" sz="2000" dirty="0"/>
                        <a:t>，整數，必須大於 </a:t>
                      </a: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91976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2000" dirty="0" err="1"/>
                        <a:t>OrderDetail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000" dirty="0" err="1"/>
                        <a:t>dealPrice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000" dirty="0"/>
                        <a:t>不可為 </a:t>
                      </a:r>
                      <a:r>
                        <a:rPr lang="en-US" altLang="zh-TW" sz="2000" dirty="0"/>
                        <a:t>NULL</a:t>
                      </a:r>
                      <a:r>
                        <a:rPr lang="zh-TW" altLang="en-US" sz="2000" dirty="0"/>
                        <a:t>，數值必須大於 </a:t>
                      </a:r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34925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2000" dirty="0"/>
                        <a:t>Invoice 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000" dirty="0" err="1"/>
                        <a:t>iID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000" dirty="0"/>
                        <a:t>主鍵，不可為 </a:t>
                      </a:r>
                      <a:r>
                        <a:rPr lang="en-US" altLang="zh-TW" sz="2000" dirty="0"/>
                        <a:t>NULL</a:t>
                      </a:r>
                      <a:r>
                        <a:rPr lang="zh-TW" altLang="en-US" sz="2000" dirty="0"/>
                        <a:t>，不可重複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3150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2000" dirty="0"/>
                        <a:t>Invoice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000" dirty="0" err="1"/>
                        <a:t>iDate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000" dirty="0"/>
                        <a:t>若已付款，則不可為 </a:t>
                      </a:r>
                      <a:r>
                        <a:rPr lang="en-US" altLang="zh-TW" sz="2000" dirty="0"/>
                        <a:t>NULL</a:t>
                      </a:r>
                      <a:r>
                        <a:rPr lang="zh-TW" altLang="en-US" sz="2000" dirty="0"/>
                        <a:t>，且不可早於 </a:t>
                      </a:r>
                      <a:r>
                        <a:rPr lang="en-US" altLang="zh-TW" sz="2000" dirty="0" err="1"/>
                        <a:t>orderDate</a:t>
                      </a:r>
                      <a:endParaRPr lang="zh-TW" alt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36601122"/>
                  </a:ext>
                </a:extLst>
              </a:tr>
            </a:tbl>
          </a:graphicData>
        </a:graphic>
      </p:graphicFrame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DAA782B8-39BB-2751-EADD-86B8FF62CC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TW" dirty="0"/>
              <a:t>14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880099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A2A6F2-7EF0-9EBE-D7D0-18881F8C49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663EB9E-BDDC-4D5A-7A0B-3AAB029770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719329"/>
            <a:ext cx="9603275" cy="1134426"/>
          </a:xfrm>
        </p:spPr>
        <p:txBody>
          <a:bodyPr>
            <a:normAutofit/>
          </a:bodyPr>
          <a:lstStyle/>
          <a:p>
            <a:r>
              <a:rPr kumimoji="1" lang="zh-TW" altLang="en-US" sz="4800" dirty="0"/>
              <a:t>完整性限制</a:t>
            </a:r>
          </a:p>
        </p:txBody>
      </p:sp>
      <p:graphicFrame>
        <p:nvGraphicFramePr>
          <p:cNvPr id="8" name="內容版面配置區 7">
            <a:extLst>
              <a:ext uri="{FF2B5EF4-FFF2-40B4-BE49-F238E27FC236}">
                <a16:creationId xmlns:a16="http://schemas.microsoft.com/office/drawing/2014/main" id="{63FB6C9B-14F4-84D4-4B6D-CAC15B85161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94138782"/>
              </p:ext>
            </p:extLst>
          </p:nvPr>
        </p:nvGraphicFramePr>
        <p:xfrm>
          <a:off x="1450975" y="2016125"/>
          <a:ext cx="9603276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1092">
                  <a:extLst>
                    <a:ext uri="{9D8B030D-6E8A-4147-A177-3AD203B41FA5}">
                      <a16:colId xmlns:a16="http://schemas.microsoft.com/office/drawing/2014/main" val="2919496033"/>
                    </a:ext>
                  </a:extLst>
                </a:gridCol>
                <a:gridCol w="3201092">
                  <a:extLst>
                    <a:ext uri="{9D8B030D-6E8A-4147-A177-3AD203B41FA5}">
                      <a16:colId xmlns:a16="http://schemas.microsoft.com/office/drawing/2014/main" val="1930751332"/>
                    </a:ext>
                  </a:extLst>
                </a:gridCol>
                <a:gridCol w="3201092">
                  <a:extLst>
                    <a:ext uri="{9D8B030D-6E8A-4147-A177-3AD203B41FA5}">
                      <a16:colId xmlns:a16="http://schemas.microsoft.com/office/drawing/2014/main" val="3921762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2000" dirty="0"/>
                        <a:t>Entity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2000" dirty="0"/>
                        <a:t>Attribute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2000" dirty="0"/>
                        <a:t>Domain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008699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2000" dirty="0"/>
                        <a:t>Invoice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000" dirty="0"/>
                        <a:t>amount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000" dirty="0"/>
                        <a:t>不可為 </a:t>
                      </a:r>
                      <a:r>
                        <a:rPr lang="en-US" altLang="zh-TW" sz="2000" dirty="0"/>
                        <a:t>NULL</a:t>
                      </a:r>
                      <a:r>
                        <a:rPr lang="zh-TW" altLang="en-US" sz="2000" dirty="0"/>
                        <a:t>，數值必須大於 </a:t>
                      </a:r>
                      <a:r>
                        <a:rPr lang="en-US" altLang="zh-TW" sz="2000" dirty="0"/>
                        <a:t>0</a:t>
                      </a:r>
                      <a:r>
                        <a:rPr lang="zh-TW" altLang="en-US" sz="2000" dirty="0"/>
                        <a:t>，且應等於 </a:t>
                      </a:r>
                      <a:r>
                        <a:rPr lang="en-US" altLang="zh-TW" sz="2000" dirty="0" err="1"/>
                        <a:t>Order.totalAmount</a:t>
                      </a:r>
                      <a:endParaRPr lang="zh-TW" alt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97009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2000" dirty="0"/>
                        <a:t>Invoice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000" dirty="0" err="1"/>
                        <a:t>paymentStatus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000" dirty="0"/>
                        <a:t>不可為 </a:t>
                      </a:r>
                      <a:r>
                        <a:rPr lang="en-US" altLang="zh-TW" sz="2000" dirty="0"/>
                        <a:t>NULL</a:t>
                      </a:r>
                      <a:r>
                        <a:rPr lang="zh-TW" altLang="en-US" sz="2000" dirty="0"/>
                        <a:t>，值只能是「未付款」、「已付款」、「付款失敗」、「已退款」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91976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2000" dirty="0" err="1"/>
                        <a:t>PaymentMethod</a:t>
                      </a:r>
                      <a:r>
                        <a:rPr lang="en-US" altLang="zh-TW" sz="2000" dirty="0"/>
                        <a:t> 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000" dirty="0" err="1"/>
                        <a:t>pmID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000" dirty="0"/>
                        <a:t>主鍵，不可為 </a:t>
                      </a:r>
                      <a:r>
                        <a:rPr lang="en-US" altLang="zh-TW" sz="2000" dirty="0"/>
                        <a:t>NULL</a:t>
                      </a:r>
                      <a:r>
                        <a:rPr lang="zh-TW" altLang="en-US" sz="2000" dirty="0"/>
                        <a:t>，不可重複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3492593"/>
                  </a:ext>
                </a:extLst>
              </a:tr>
            </a:tbl>
          </a:graphicData>
        </a:graphic>
      </p:graphicFrame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2F10B185-3221-2C0F-0872-E984D85086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TW" dirty="0"/>
              <a:t>15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091519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A9F68E-0664-ADEB-6957-D8D26E8EE4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4B672F1-8F7E-A195-2FCA-65615BC2E2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719329"/>
            <a:ext cx="9603275" cy="1134426"/>
          </a:xfrm>
        </p:spPr>
        <p:txBody>
          <a:bodyPr>
            <a:normAutofit/>
          </a:bodyPr>
          <a:lstStyle/>
          <a:p>
            <a:r>
              <a:rPr kumimoji="1" lang="zh-TW" altLang="en-US" sz="4800" dirty="0"/>
              <a:t>完整性限制</a:t>
            </a:r>
          </a:p>
        </p:txBody>
      </p:sp>
      <p:graphicFrame>
        <p:nvGraphicFramePr>
          <p:cNvPr id="8" name="內容版面配置區 7">
            <a:extLst>
              <a:ext uri="{FF2B5EF4-FFF2-40B4-BE49-F238E27FC236}">
                <a16:creationId xmlns:a16="http://schemas.microsoft.com/office/drawing/2014/main" id="{3E949EA0-3C83-34C5-C67F-F98A1EC3247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46303494"/>
              </p:ext>
            </p:extLst>
          </p:nvPr>
        </p:nvGraphicFramePr>
        <p:xfrm>
          <a:off x="1450975" y="2016125"/>
          <a:ext cx="9603276" cy="3413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1092">
                  <a:extLst>
                    <a:ext uri="{9D8B030D-6E8A-4147-A177-3AD203B41FA5}">
                      <a16:colId xmlns:a16="http://schemas.microsoft.com/office/drawing/2014/main" val="2919496033"/>
                    </a:ext>
                  </a:extLst>
                </a:gridCol>
                <a:gridCol w="3201092">
                  <a:extLst>
                    <a:ext uri="{9D8B030D-6E8A-4147-A177-3AD203B41FA5}">
                      <a16:colId xmlns:a16="http://schemas.microsoft.com/office/drawing/2014/main" val="1930751332"/>
                    </a:ext>
                  </a:extLst>
                </a:gridCol>
                <a:gridCol w="3201092">
                  <a:extLst>
                    <a:ext uri="{9D8B030D-6E8A-4147-A177-3AD203B41FA5}">
                      <a16:colId xmlns:a16="http://schemas.microsoft.com/office/drawing/2014/main" val="3921762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2000" dirty="0"/>
                        <a:t>Entity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2000" dirty="0"/>
                        <a:t>Attribute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2000" dirty="0"/>
                        <a:t>Domain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008699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2000" dirty="0" err="1"/>
                        <a:t>PaymentMethod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000" dirty="0" err="1"/>
                        <a:t>methodName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000" dirty="0"/>
                        <a:t>不可為 </a:t>
                      </a:r>
                      <a:r>
                        <a:rPr lang="en-US" altLang="zh-TW" sz="2000" dirty="0"/>
                        <a:t>NULL</a:t>
                      </a:r>
                      <a:r>
                        <a:rPr lang="zh-TW" altLang="en-US" sz="2000" dirty="0"/>
                        <a:t>，不可重複，值可為「信用卡」、「銀行轉帳」、「電子支付」、「貨到付款」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97009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2000" dirty="0"/>
                        <a:t>Shipment 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000" dirty="0" err="1"/>
                        <a:t>sID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000" dirty="0"/>
                        <a:t>主鍵，不可為 </a:t>
                      </a:r>
                      <a:r>
                        <a:rPr lang="en-US" altLang="zh-TW" sz="2000" dirty="0"/>
                        <a:t>NULL</a:t>
                      </a:r>
                      <a:r>
                        <a:rPr lang="zh-TW" altLang="en-US" sz="2000" dirty="0"/>
                        <a:t>，不可重複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91976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2000" dirty="0"/>
                        <a:t>Shipment 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000" dirty="0" err="1"/>
                        <a:t>sDate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000" dirty="0"/>
                        <a:t>若商品已出貨，則不可為 </a:t>
                      </a:r>
                      <a:r>
                        <a:rPr lang="en-US" altLang="zh-TW" sz="2000" dirty="0"/>
                        <a:t>NULL</a:t>
                      </a:r>
                      <a:r>
                        <a:rPr lang="zh-TW" altLang="en-US" sz="2000" dirty="0"/>
                        <a:t>，且不可早於付款日期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3492593"/>
                  </a:ext>
                </a:extLst>
              </a:tr>
            </a:tbl>
          </a:graphicData>
        </a:graphic>
      </p:graphicFrame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59710D7A-5F2B-0AB6-6E56-945EACD4E8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TW" dirty="0"/>
              <a:t>16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583216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E0C514-E946-04A8-B517-9A24595EA2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4929768-81F5-333A-70B3-B966CBE324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719329"/>
            <a:ext cx="9603275" cy="1134426"/>
          </a:xfrm>
        </p:spPr>
        <p:txBody>
          <a:bodyPr>
            <a:normAutofit/>
          </a:bodyPr>
          <a:lstStyle/>
          <a:p>
            <a:r>
              <a:rPr kumimoji="1" lang="zh-TW" altLang="en-US" sz="4800" dirty="0"/>
              <a:t>完整性限制</a:t>
            </a:r>
          </a:p>
        </p:txBody>
      </p:sp>
      <p:graphicFrame>
        <p:nvGraphicFramePr>
          <p:cNvPr id="8" name="內容版面配置區 7">
            <a:extLst>
              <a:ext uri="{FF2B5EF4-FFF2-40B4-BE49-F238E27FC236}">
                <a16:creationId xmlns:a16="http://schemas.microsoft.com/office/drawing/2014/main" id="{3454BD03-AFCE-264B-799D-6731E875DBA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56530063"/>
              </p:ext>
            </p:extLst>
          </p:nvPr>
        </p:nvGraphicFramePr>
        <p:xfrm>
          <a:off x="1450975" y="2016125"/>
          <a:ext cx="9603276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1092">
                  <a:extLst>
                    <a:ext uri="{9D8B030D-6E8A-4147-A177-3AD203B41FA5}">
                      <a16:colId xmlns:a16="http://schemas.microsoft.com/office/drawing/2014/main" val="2919496033"/>
                    </a:ext>
                  </a:extLst>
                </a:gridCol>
                <a:gridCol w="3201092">
                  <a:extLst>
                    <a:ext uri="{9D8B030D-6E8A-4147-A177-3AD203B41FA5}">
                      <a16:colId xmlns:a16="http://schemas.microsoft.com/office/drawing/2014/main" val="1930751332"/>
                    </a:ext>
                  </a:extLst>
                </a:gridCol>
                <a:gridCol w="3201092">
                  <a:extLst>
                    <a:ext uri="{9D8B030D-6E8A-4147-A177-3AD203B41FA5}">
                      <a16:colId xmlns:a16="http://schemas.microsoft.com/office/drawing/2014/main" val="3921762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2000" dirty="0"/>
                        <a:t>Entity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2000" dirty="0"/>
                        <a:t>Attribute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2000" dirty="0"/>
                        <a:t>Domain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008699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2000" dirty="0"/>
                        <a:t>Shipment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000" dirty="0" err="1"/>
                        <a:t>sStatus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000" dirty="0"/>
                        <a:t>不可為 </a:t>
                      </a:r>
                      <a:r>
                        <a:rPr lang="en-US" altLang="zh-TW" sz="2000" dirty="0"/>
                        <a:t>NULL</a:t>
                      </a:r>
                      <a:r>
                        <a:rPr lang="zh-TW" altLang="en-US" sz="2000" dirty="0"/>
                        <a:t>，值只能是「待出貨」、「已寄出」、「配送中」、「已送達」、「已取消」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97009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2000" dirty="0" err="1"/>
                        <a:t>ShipmentMethod</a:t>
                      </a:r>
                      <a:r>
                        <a:rPr lang="en-US" altLang="zh-TW" sz="2000" dirty="0"/>
                        <a:t>  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000" dirty="0" err="1"/>
                        <a:t>smID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000" dirty="0"/>
                        <a:t>主鍵，不可為 </a:t>
                      </a:r>
                      <a:r>
                        <a:rPr lang="en-US" altLang="zh-TW" sz="2000" dirty="0"/>
                        <a:t>NULL</a:t>
                      </a:r>
                      <a:r>
                        <a:rPr lang="zh-TW" altLang="en-US" sz="2000" dirty="0"/>
                        <a:t>，不可重複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91976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2000" dirty="0" err="1"/>
                        <a:t>ShipmentMethod</a:t>
                      </a:r>
                      <a:r>
                        <a:rPr lang="en-US" altLang="zh-TW" sz="2000" dirty="0"/>
                        <a:t> 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000" dirty="0" err="1"/>
                        <a:t>methodName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000" dirty="0"/>
                        <a:t>不可為 </a:t>
                      </a:r>
                      <a:r>
                        <a:rPr lang="en-US" altLang="zh-TW" sz="2000" dirty="0"/>
                        <a:t>NULL</a:t>
                      </a:r>
                      <a:r>
                        <a:rPr lang="zh-TW" altLang="en-US" sz="2000" dirty="0"/>
                        <a:t>，不可重複，值可為「超商取貨」、「宅配」、「面交」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34925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2000" dirty="0"/>
                        <a:t>Review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000" dirty="0" err="1"/>
                        <a:t>rID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000" dirty="0"/>
                        <a:t>主鍵，不可為 </a:t>
                      </a:r>
                      <a:r>
                        <a:rPr lang="en-US" altLang="zh-TW" sz="2000" dirty="0"/>
                        <a:t>NULL</a:t>
                      </a:r>
                      <a:r>
                        <a:rPr lang="zh-TW" altLang="en-US" sz="2000" dirty="0"/>
                        <a:t>，不可重複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6514715"/>
                  </a:ext>
                </a:extLst>
              </a:tr>
            </a:tbl>
          </a:graphicData>
        </a:graphic>
      </p:graphicFrame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18953AD6-812F-FE9D-AAFF-CEAD38A447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TW" dirty="0"/>
              <a:t>17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663220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5F89CE-FA23-CD63-8C88-88AB69336A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AAC39E0-BB79-8EE6-5DBA-2E3E6F0A69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719329"/>
            <a:ext cx="9603275" cy="1134426"/>
          </a:xfrm>
        </p:spPr>
        <p:txBody>
          <a:bodyPr>
            <a:normAutofit/>
          </a:bodyPr>
          <a:lstStyle/>
          <a:p>
            <a:r>
              <a:rPr kumimoji="1" lang="zh-TW" altLang="en-US" sz="4800" dirty="0"/>
              <a:t>完整性限制</a:t>
            </a:r>
          </a:p>
        </p:txBody>
      </p:sp>
      <p:graphicFrame>
        <p:nvGraphicFramePr>
          <p:cNvPr id="8" name="內容版面配置區 7">
            <a:extLst>
              <a:ext uri="{FF2B5EF4-FFF2-40B4-BE49-F238E27FC236}">
                <a16:creationId xmlns:a16="http://schemas.microsoft.com/office/drawing/2014/main" id="{308C2E9C-0F00-43EE-AA77-76410EF1E94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44386850"/>
              </p:ext>
            </p:extLst>
          </p:nvPr>
        </p:nvGraphicFramePr>
        <p:xfrm>
          <a:off x="1450975" y="2016125"/>
          <a:ext cx="9603276" cy="2804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1092">
                  <a:extLst>
                    <a:ext uri="{9D8B030D-6E8A-4147-A177-3AD203B41FA5}">
                      <a16:colId xmlns:a16="http://schemas.microsoft.com/office/drawing/2014/main" val="2919496033"/>
                    </a:ext>
                  </a:extLst>
                </a:gridCol>
                <a:gridCol w="3201092">
                  <a:extLst>
                    <a:ext uri="{9D8B030D-6E8A-4147-A177-3AD203B41FA5}">
                      <a16:colId xmlns:a16="http://schemas.microsoft.com/office/drawing/2014/main" val="1930751332"/>
                    </a:ext>
                  </a:extLst>
                </a:gridCol>
                <a:gridCol w="3201092">
                  <a:extLst>
                    <a:ext uri="{9D8B030D-6E8A-4147-A177-3AD203B41FA5}">
                      <a16:colId xmlns:a16="http://schemas.microsoft.com/office/drawing/2014/main" val="3921762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2000" dirty="0"/>
                        <a:t>Entity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2000" dirty="0"/>
                        <a:t>Attribute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2000" dirty="0"/>
                        <a:t>Domain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008699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2000" dirty="0"/>
                        <a:t>Review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000" dirty="0"/>
                        <a:t>score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000" dirty="0"/>
                        <a:t>不可為 </a:t>
                      </a:r>
                      <a:r>
                        <a:rPr lang="en-US" altLang="zh-TW" sz="2000" dirty="0"/>
                        <a:t>NULL</a:t>
                      </a:r>
                      <a:r>
                        <a:rPr lang="zh-TW" altLang="en-US" sz="2000" dirty="0"/>
                        <a:t>，整數，必須介於 </a:t>
                      </a:r>
                      <a:r>
                        <a:rPr lang="en-US" altLang="zh-TW" sz="2000" dirty="0"/>
                        <a:t>1 </a:t>
                      </a:r>
                      <a:r>
                        <a:rPr lang="zh-TW" altLang="en-US" sz="2000" dirty="0"/>
                        <a:t>到 </a:t>
                      </a:r>
                      <a:r>
                        <a:rPr lang="en-US" altLang="zh-TW" sz="2000" dirty="0"/>
                        <a:t>5</a:t>
                      </a:r>
                      <a:endParaRPr lang="zh-TW" alt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97009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2000" dirty="0"/>
                        <a:t>Review  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000" dirty="0"/>
                        <a:t>comment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000" dirty="0"/>
                        <a:t>可為 </a:t>
                      </a:r>
                      <a:r>
                        <a:rPr lang="en-US" altLang="zh-TW" sz="2000" dirty="0"/>
                        <a:t>NULL</a:t>
                      </a:r>
                      <a:r>
                        <a:rPr lang="zh-TW" altLang="en-US" sz="2000" dirty="0"/>
                        <a:t>，長度不超過 </a:t>
                      </a:r>
                      <a:r>
                        <a:rPr lang="en-US" altLang="zh-TW" sz="2000" dirty="0"/>
                        <a:t>300 </a:t>
                      </a:r>
                      <a:r>
                        <a:rPr lang="zh-TW" altLang="en-US" sz="2000" dirty="0"/>
                        <a:t>字元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91976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2000" dirty="0"/>
                        <a:t>Review 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000" dirty="0" err="1"/>
                        <a:t>rDate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000" dirty="0"/>
                        <a:t>不可為 </a:t>
                      </a:r>
                      <a:r>
                        <a:rPr lang="en-US" altLang="zh-TW" sz="2000" dirty="0"/>
                        <a:t>NULL</a:t>
                      </a:r>
                      <a:r>
                        <a:rPr lang="zh-TW" altLang="en-US" sz="2000" dirty="0"/>
                        <a:t>，日期不可早於訂單完成日期，也不可晚於系統目前日期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3492593"/>
                  </a:ext>
                </a:extLst>
              </a:tr>
            </a:tbl>
          </a:graphicData>
        </a:graphic>
      </p:graphicFrame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458760F5-90B8-BDD0-01F6-4BF72FD724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TW" dirty="0"/>
              <a:t>18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698392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611C88F-277A-CE94-7841-E56C2585AC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TW" altLang="en-US" sz="4800" dirty="0"/>
              <a:t>實體關係圖</a:t>
            </a: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57C0A71-555F-9B40-F11F-1E643567E0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TW" dirty="0"/>
              <a:t>19</a:t>
            </a:r>
            <a:endParaRPr lang="en-US" dirty="0"/>
          </a:p>
        </p:txBody>
      </p:sp>
      <p:sp>
        <p:nvSpPr>
          <p:cNvPr id="8" name="內容版面配置區 7">
            <a:extLst>
              <a:ext uri="{FF2B5EF4-FFF2-40B4-BE49-F238E27FC236}">
                <a16:creationId xmlns:a16="http://schemas.microsoft.com/office/drawing/2014/main" id="{A884437D-C518-DC9B-DFAE-DB7967288D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5328374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0189C25-5542-3D4D-8358-DA621252E8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A5E8909-BC92-40A1-BB15-85619EEE43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TW" dirty="0"/>
              <a:t>20</a:t>
            </a:r>
            <a:endParaRPr lang="en-US" dirty="0"/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11D50418-69CF-1D6E-ABEF-A311FB89CC9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13641" t="7616" r="8859" b="6758"/>
          <a:stretch>
            <a:fillRect/>
          </a:stretch>
        </p:blipFill>
        <p:spPr>
          <a:xfrm>
            <a:off x="2230877" y="0"/>
            <a:ext cx="7730246" cy="6859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363894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71BF584-C9B3-0A07-EE2E-27648EB0FE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實體關係圖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27E3CD1-B92F-453D-7949-9DB954C435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3918089" cy="3450613"/>
          </a:xfrm>
        </p:spPr>
        <p:txBody>
          <a:bodyPr/>
          <a:lstStyle/>
          <a:p>
            <a:r>
              <a:rPr kumimoji="1" lang="zh-TW" altLang="en-US" dirty="0"/>
              <a:t>賣家上架商品：</a:t>
            </a:r>
            <a:endParaRPr kumimoji="1" lang="en-US" altLang="zh-TW" dirty="0"/>
          </a:p>
          <a:p>
            <a:pPr lvl="1"/>
            <a:r>
              <a:rPr lang="zh-TW" altLang="en-US" dirty="0"/>
              <a:t>一位會員可以刊登多個商品 </a:t>
            </a:r>
          </a:p>
          <a:p>
            <a:pPr lvl="1"/>
            <a:r>
              <a:rPr lang="zh-TW" altLang="en-US" dirty="0"/>
              <a:t>一個商品只能由一位會員刊登 </a:t>
            </a:r>
          </a:p>
          <a:p>
            <a:pPr lvl="1"/>
            <a:endParaRPr kumimoji="1" lang="en-US" altLang="zh-TW" dirty="0"/>
          </a:p>
          <a:p>
            <a:endParaRPr kumimoji="1" lang="en-US" altLang="zh-TW" dirty="0"/>
          </a:p>
          <a:p>
            <a:endParaRPr kumimoji="1" lang="en-US" altLang="zh-TW" dirty="0"/>
          </a:p>
          <a:p>
            <a:endParaRPr kumimoji="1" lang="en-US" altLang="zh-TW" dirty="0"/>
          </a:p>
          <a:p>
            <a:pPr lvl="1"/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08B190E-A823-D0A2-3249-89F44B4B15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21</a:t>
            </a:r>
          </a:p>
        </p:txBody>
      </p:sp>
      <p:pic>
        <p:nvPicPr>
          <p:cNvPr id="6" name="內容版面配置區 4">
            <a:extLst>
              <a:ext uri="{FF2B5EF4-FFF2-40B4-BE49-F238E27FC236}">
                <a16:creationId xmlns:a16="http://schemas.microsoft.com/office/drawing/2014/main" id="{B7D75DD6-0EC0-7B29-53C5-C330AF5D681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7067" t="37301" r="65252" b="27471"/>
          <a:stretch>
            <a:fillRect/>
          </a:stretch>
        </p:blipFill>
        <p:spPr>
          <a:xfrm>
            <a:off x="3196777" y="3240164"/>
            <a:ext cx="976552" cy="3597381"/>
          </a:xfrm>
          <a:prstGeom prst="rect">
            <a:avLst/>
          </a:prstGeom>
        </p:spPr>
      </p:pic>
      <p:sp>
        <p:nvSpPr>
          <p:cNvPr id="8" name="文字方塊 7">
            <a:extLst>
              <a:ext uri="{FF2B5EF4-FFF2-40B4-BE49-F238E27FC236}">
                <a16:creationId xmlns:a16="http://schemas.microsoft.com/office/drawing/2014/main" id="{26052E07-0966-C2A4-32E1-7C8756C18036}"/>
              </a:ext>
            </a:extLst>
          </p:cNvPr>
          <p:cNvSpPr txBox="1"/>
          <p:nvPr/>
        </p:nvSpPr>
        <p:spPr>
          <a:xfrm>
            <a:off x="5775715" y="2015732"/>
            <a:ext cx="5210055" cy="1189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 defTabSz="914400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</a:pPr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商品分類：</a:t>
            </a:r>
            <a:endParaRPr kumimoji="1" lang="en-US" altLang="zh-TW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marL="685800" lvl="1" indent="-228600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標準系統字體"/>
              <a:buChar char="◦"/>
            </a:pPr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一個分類可包含多個商品</a:t>
            </a:r>
            <a:endParaRPr kumimoji="1" lang="en-US" altLang="zh-TW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marL="685800" lvl="1" indent="-228600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標準系統字體"/>
              <a:buChar char="◦"/>
            </a:pPr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一個商品只屬於一個分類</a:t>
            </a:r>
            <a:endParaRPr lang="zh-TW" altLang="en-US" dirty="0"/>
          </a:p>
        </p:txBody>
      </p:sp>
      <p:pic>
        <p:nvPicPr>
          <p:cNvPr id="9" name="內容版面配置區 4">
            <a:extLst>
              <a:ext uri="{FF2B5EF4-FFF2-40B4-BE49-F238E27FC236}">
                <a16:creationId xmlns:a16="http://schemas.microsoft.com/office/drawing/2014/main" id="{CB9FBE29-F09D-BAA7-FCD5-BBA223C3936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7133" t="67832" r="41245" b="15291"/>
          <a:stretch>
            <a:fillRect/>
          </a:stretch>
        </p:blipFill>
        <p:spPr>
          <a:xfrm>
            <a:off x="6096000" y="3240164"/>
            <a:ext cx="4440724" cy="1903503"/>
          </a:xfrm>
          <a:prstGeom prst="corner">
            <a:avLst>
              <a:gd name="adj1" fmla="val 33049"/>
              <a:gd name="adj2" fmla="val 98916"/>
            </a:avLst>
          </a:prstGeom>
        </p:spPr>
      </p:pic>
    </p:spTree>
    <p:extLst>
      <p:ext uri="{BB962C8B-B14F-4D97-AF65-F5344CB8AC3E}">
        <p14:creationId xmlns:p14="http://schemas.microsoft.com/office/powerpoint/2010/main" val="301952784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57F8F9-385A-655A-5B67-0A300FFCAC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B757E7F-7B65-E905-DFA9-9345516173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TW" altLang="en-US" sz="4800" dirty="0"/>
              <a:t>實體關係圖</a:t>
            </a: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662869D-D80B-8951-CEA9-3510C64DEF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TW" dirty="0"/>
              <a:t>22</a:t>
            </a:r>
            <a:endParaRPr lang="en-US" dirty="0"/>
          </a:p>
        </p:txBody>
      </p:sp>
      <p:sp>
        <p:nvSpPr>
          <p:cNvPr id="8" name="內容版面配置區 7">
            <a:extLst>
              <a:ext uri="{FF2B5EF4-FFF2-40B4-BE49-F238E27FC236}">
                <a16:creationId xmlns:a16="http://schemas.microsoft.com/office/drawing/2014/main" id="{B35E6BBD-9876-D79C-417B-E9C417CC22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 sz="1800" dirty="0"/>
              <a:t>買家下單：</a:t>
            </a:r>
            <a:endParaRPr lang="en-US" altLang="zh-TW" sz="1800" dirty="0"/>
          </a:p>
          <a:p>
            <a:pPr lvl="1">
              <a:buFont typeface="標準系統字體"/>
              <a:buChar char="◦"/>
            </a:pPr>
            <a:r>
              <a:rPr lang="zh-TW" altLang="en-US" dirty="0"/>
              <a:t>一份訂單只能由一位買家下單</a:t>
            </a:r>
            <a:endParaRPr lang="en-US" altLang="zh-TW" dirty="0"/>
          </a:p>
          <a:p>
            <a:pPr lvl="1">
              <a:buFont typeface="標準系統字體"/>
              <a:buChar char="◦"/>
            </a:pPr>
            <a:r>
              <a:rPr lang="zh-TW" altLang="en-US" dirty="0"/>
              <a:t>每位買家可下一份以上訂單</a:t>
            </a:r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r>
              <a:rPr lang="zh-TW" altLang="en-US" sz="1800" dirty="0"/>
              <a:t>訂單產生發票：</a:t>
            </a:r>
            <a:endParaRPr lang="en-US" altLang="zh-TW" sz="1800" dirty="0"/>
          </a:p>
          <a:p>
            <a:pPr lvl="1">
              <a:lnSpc>
                <a:spcPct val="130000"/>
              </a:lnSpc>
              <a:buFont typeface="標準系統字體"/>
              <a:buChar char="◦"/>
            </a:pPr>
            <a:r>
              <a:rPr lang="zh-TW" altLang="en-US" dirty="0"/>
              <a:t>一份訂單只會產生一份發票</a:t>
            </a:r>
            <a:endParaRPr lang="en-US" altLang="zh-TW" dirty="0"/>
          </a:p>
          <a:p>
            <a:pPr lvl="1">
              <a:lnSpc>
                <a:spcPct val="130000"/>
              </a:lnSpc>
              <a:buFont typeface="標準系統字體"/>
              <a:buChar char="◦"/>
            </a:pPr>
            <a:r>
              <a:rPr lang="zh-TW" altLang="en-US" dirty="0"/>
              <a:t>一份發票只會對應一份訂單</a:t>
            </a:r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C31F7D07-52B5-5447-2369-495D79770B5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6477" t="36631" r="42408" b="57729"/>
          <a:stretch>
            <a:fillRect/>
          </a:stretch>
        </p:blipFill>
        <p:spPr>
          <a:xfrm>
            <a:off x="5440343" y="2015732"/>
            <a:ext cx="5621075" cy="818259"/>
          </a:xfrm>
          <a:prstGeom prst="rect">
            <a:avLst/>
          </a:prstGeom>
        </p:spPr>
      </p:pic>
      <p:pic>
        <p:nvPicPr>
          <p:cNvPr id="7" name="內容版面配置區 4">
            <a:extLst>
              <a:ext uri="{FF2B5EF4-FFF2-40B4-BE49-F238E27FC236}">
                <a16:creationId xmlns:a16="http://schemas.microsoft.com/office/drawing/2014/main" id="{49D9B2A8-4BB5-ED0F-2685-22C740E1594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9781" t="36811" r="17528" b="57387"/>
          <a:stretch>
            <a:fillRect/>
          </a:stretch>
        </p:blipFill>
        <p:spPr>
          <a:xfrm>
            <a:off x="5440343" y="4486108"/>
            <a:ext cx="5741215" cy="818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214348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BF89BDC-E058-AD94-3443-5356B95D16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實體關係圖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7AB4C25-9D87-BF3C-AC89-95DEF8FA5B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75040" y="2015732"/>
            <a:ext cx="3911604" cy="3840319"/>
          </a:xfrm>
        </p:spPr>
        <p:txBody>
          <a:bodyPr>
            <a:noAutofit/>
          </a:bodyPr>
          <a:lstStyle/>
          <a:p>
            <a:r>
              <a:rPr kumimoji="1" lang="zh-TW" altLang="en-US" sz="1800" dirty="0"/>
              <a:t>訂單明細：</a:t>
            </a:r>
            <a:endParaRPr kumimoji="1" lang="en-US" altLang="zh-TW" sz="1800" dirty="0"/>
          </a:p>
          <a:p>
            <a:pPr lvl="1"/>
            <a:r>
              <a:rPr kumimoji="1" lang="zh-TW" altLang="en-US" dirty="0"/>
              <a:t>一張訂單能有一份以上明細</a:t>
            </a:r>
            <a:endParaRPr kumimoji="1" lang="en-US" altLang="zh-TW" dirty="0"/>
          </a:p>
          <a:p>
            <a:pPr lvl="1"/>
            <a:r>
              <a:rPr kumimoji="1" lang="zh-TW" altLang="en-US" dirty="0"/>
              <a:t>一份明細只會對應到一份訂單</a:t>
            </a:r>
            <a:endParaRPr kumimoji="1" lang="en-US" altLang="zh-TW" dirty="0"/>
          </a:p>
          <a:p>
            <a:endParaRPr kumimoji="1" lang="en-US" altLang="zh-TW" sz="1800" dirty="0"/>
          </a:p>
          <a:p>
            <a:pPr marL="0" indent="0">
              <a:buNone/>
            </a:pPr>
            <a:endParaRPr kumimoji="1" lang="en-US" altLang="zh-TW" sz="1800" dirty="0"/>
          </a:p>
          <a:p>
            <a:pPr marL="0" indent="0">
              <a:buNone/>
            </a:pPr>
            <a:endParaRPr kumimoji="1" lang="en-US" altLang="zh-TW" sz="1800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7CF50E4-C7C2-ADF7-5D7B-409B93F95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23</a:t>
            </a:r>
          </a:p>
        </p:txBody>
      </p:sp>
      <p:pic>
        <p:nvPicPr>
          <p:cNvPr id="7" name="內容版面配置區 4">
            <a:extLst>
              <a:ext uri="{FF2B5EF4-FFF2-40B4-BE49-F238E27FC236}">
                <a16:creationId xmlns:a16="http://schemas.microsoft.com/office/drawing/2014/main" id="{E009A8FE-4DC8-5611-EC91-38538364C08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9846" t="36893" r="42605" b="41365"/>
          <a:stretch>
            <a:fillRect/>
          </a:stretch>
        </p:blipFill>
        <p:spPr>
          <a:xfrm>
            <a:off x="7180998" y="3298908"/>
            <a:ext cx="1199744" cy="2775062"/>
          </a:xfrm>
          <a:prstGeom prst="rect">
            <a:avLst/>
          </a:prstGeom>
        </p:spPr>
      </p:pic>
      <p:pic>
        <p:nvPicPr>
          <p:cNvPr id="8" name="內容版面配置區 4">
            <a:extLst>
              <a:ext uri="{FF2B5EF4-FFF2-40B4-BE49-F238E27FC236}">
                <a16:creationId xmlns:a16="http://schemas.microsoft.com/office/drawing/2014/main" id="{F71323CA-E581-0EB4-09C8-D2D629B40F8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4463" t="37465" r="17328" b="40711"/>
          <a:stretch>
            <a:fillRect/>
          </a:stretch>
        </p:blipFill>
        <p:spPr>
          <a:xfrm>
            <a:off x="2820229" y="3278419"/>
            <a:ext cx="1299799" cy="2775062"/>
          </a:xfrm>
          <a:prstGeom prst="rect">
            <a:avLst/>
          </a:prstGeom>
        </p:spPr>
      </p:pic>
      <p:sp>
        <p:nvSpPr>
          <p:cNvPr id="9" name="文字方塊 8">
            <a:extLst>
              <a:ext uri="{FF2B5EF4-FFF2-40B4-BE49-F238E27FC236}">
                <a16:creationId xmlns:a16="http://schemas.microsoft.com/office/drawing/2014/main" id="{F8C5777F-D83B-8E5D-297F-9467AFA82F18}"/>
              </a:ext>
            </a:extLst>
          </p:cNvPr>
          <p:cNvSpPr txBox="1"/>
          <p:nvPr/>
        </p:nvSpPr>
        <p:spPr>
          <a:xfrm>
            <a:off x="1451579" y="2021081"/>
            <a:ext cx="5210055" cy="1494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 defTabSz="914400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</a:pPr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選擇付款方式：</a:t>
            </a:r>
            <a:endParaRPr kumimoji="1" lang="en-US" altLang="zh-TW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marL="685800" lvl="1" indent="-228600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標準系統字體"/>
              <a:buChar char="◦"/>
            </a:pPr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每張發票只能選擇一項付款方式</a:t>
            </a:r>
            <a:endParaRPr kumimoji="1" lang="en-US" altLang="zh-TW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marL="685800" lvl="1" indent="-228600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標準系統字體"/>
              <a:buChar char="◦"/>
            </a:pPr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每項付款方式可用在多張發票上</a:t>
            </a:r>
            <a:endParaRPr kumimoji="1" lang="en-US" altLang="zh-TW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32902065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1053DB3-C3D5-F5B7-2BAF-19843BA2EA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實體關係圖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2CFEAB1-AA45-613A-BD3D-30347329FE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訂單中的商品：</a:t>
            </a:r>
            <a:endParaRPr lang="en-US" altLang="zh-TW" dirty="0"/>
          </a:p>
          <a:p>
            <a:pPr lvl="1"/>
            <a:r>
              <a:rPr lang="zh-TW" altLang="en-US" dirty="0"/>
              <a:t>一個商品最多只會出現在一筆訂單明細中</a:t>
            </a:r>
            <a:endParaRPr lang="en-US" altLang="zh-TW" dirty="0"/>
          </a:p>
          <a:p>
            <a:pPr lvl="1"/>
            <a:r>
              <a:rPr lang="zh-TW" altLang="en-US" dirty="0"/>
              <a:t>一筆訂單明細包含一個以上商品</a:t>
            </a:r>
            <a:endParaRPr lang="en-US" altLang="zh-TW" dirty="0"/>
          </a:p>
          <a:p>
            <a:pPr lvl="1"/>
            <a:endParaRPr lang="en-US" altLang="zh-TW" dirty="0"/>
          </a:p>
          <a:p>
            <a:pPr lvl="1"/>
            <a:endParaRPr lang="en-US" altLang="zh-TW" dirty="0"/>
          </a:p>
          <a:p>
            <a:pPr marL="228600" lvl="1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zh-TW" altLang="en-US" dirty="0"/>
              <a:t>訂單出貨：</a:t>
            </a:r>
            <a:endParaRPr lang="en-US" altLang="zh-TW" dirty="0"/>
          </a:p>
          <a:p>
            <a:pPr lvl="1"/>
            <a:r>
              <a:rPr lang="zh-TW" altLang="en-US" dirty="0"/>
              <a:t>每筆訂單明細只會對應到一份出貨資料</a:t>
            </a:r>
            <a:endParaRPr lang="en-US" altLang="zh-TW" dirty="0"/>
          </a:p>
          <a:p>
            <a:pPr lvl="1"/>
            <a:r>
              <a:rPr lang="zh-TW" altLang="en-US" dirty="0"/>
              <a:t>每份出貨資料可以包含多筆訂單明細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0E44434-1A01-C335-C013-20E56D388C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24</a:t>
            </a:r>
          </a:p>
        </p:txBody>
      </p:sp>
      <p:pic>
        <p:nvPicPr>
          <p:cNvPr id="10" name="內容版面配置區 4">
            <a:extLst>
              <a:ext uri="{FF2B5EF4-FFF2-40B4-BE49-F238E27FC236}">
                <a16:creationId xmlns:a16="http://schemas.microsoft.com/office/drawing/2014/main" id="{4FC4FC93-8ED8-D2C8-82B0-B4391CD7BF9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6839" t="54001" r="42668" b="27542"/>
          <a:stretch>
            <a:fillRect/>
          </a:stretch>
        </p:blipFill>
        <p:spPr>
          <a:xfrm>
            <a:off x="6408315" y="2015730"/>
            <a:ext cx="3682511" cy="1790218"/>
          </a:xfrm>
          <a:prstGeom prst="rect">
            <a:avLst/>
          </a:prstGeom>
        </p:spPr>
      </p:pic>
      <p:sp>
        <p:nvSpPr>
          <p:cNvPr id="6" name="L 圖案 5">
            <a:extLst>
              <a:ext uri="{FF2B5EF4-FFF2-40B4-BE49-F238E27FC236}">
                <a16:creationId xmlns:a16="http://schemas.microsoft.com/office/drawing/2014/main" id="{FE3848DD-8006-3DE5-4117-DF6E5962C51F}"/>
              </a:ext>
            </a:extLst>
          </p:cNvPr>
          <p:cNvSpPr/>
          <p:nvPr/>
        </p:nvSpPr>
        <p:spPr>
          <a:xfrm rot="10800000" flipH="1">
            <a:off x="6408315" y="2015731"/>
            <a:ext cx="3682511" cy="1764215"/>
          </a:xfrm>
          <a:prstGeom prst="corner">
            <a:avLst>
              <a:gd name="adj1" fmla="val 27435"/>
              <a:gd name="adj2" fmla="val 123476"/>
            </a:avLst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7" name="內容版面配置區 4">
            <a:extLst>
              <a:ext uri="{FF2B5EF4-FFF2-40B4-BE49-F238E27FC236}">
                <a16:creationId xmlns:a16="http://schemas.microsoft.com/office/drawing/2014/main" id="{7197AECA-BFBF-C0F3-CD90-99277540B3F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9780" t="52995" r="42802" b="28206"/>
          <a:stretch>
            <a:fillRect/>
          </a:stretch>
        </p:blipFill>
        <p:spPr>
          <a:xfrm>
            <a:off x="6408315" y="4065141"/>
            <a:ext cx="1219200" cy="24815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816980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34BEA06-1820-4525-F410-E3DCED272D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實體關係圖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176ADCA-EF55-394B-5E23-BD8004B625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選擇運送方式：</a:t>
            </a:r>
            <a:endParaRPr lang="en-US" altLang="zh-TW" dirty="0"/>
          </a:p>
          <a:p>
            <a:pPr lvl="1"/>
            <a:r>
              <a:rPr lang="zh-TW" altLang="en-US" dirty="0"/>
              <a:t>一種物流方式可被多次出貨資料使用</a:t>
            </a:r>
            <a:endParaRPr lang="en-US" altLang="zh-TW" dirty="0"/>
          </a:p>
          <a:p>
            <a:pPr lvl="1"/>
            <a:r>
              <a:rPr lang="zh-TW" altLang="en-US" dirty="0"/>
              <a:t>一筆出貨資料只能選擇一種物流方式</a:t>
            </a:r>
            <a:endParaRPr lang="en-US" altLang="zh-TW" dirty="0"/>
          </a:p>
          <a:p>
            <a:pPr lvl="1"/>
            <a:endParaRPr lang="en-US" altLang="zh-TW" dirty="0"/>
          </a:p>
          <a:p>
            <a:pPr marL="457200" lvl="1" indent="0">
              <a:buNone/>
            </a:pPr>
            <a:endParaRPr lang="en-US" altLang="zh-TW" dirty="0"/>
          </a:p>
          <a:p>
            <a:pPr marL="228600" lvl="1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zh-TW" altLang="en-US" dirty="0"/>
              <a:t>買家寫評論：</a:t>
            </a:r>
            <a:endParaRPr lang="en-US" altLang="zh-TW" dirty="0"/>
          </a:p>
          <a:p>
            <a:pPr lvl="1"/>
            <a:r>
              <a:rPr lang="zh-TW" altLang="en-US" dirty="0"/>
              <a:t>一位會員可以寫零筆以上評價</a:t>
            </a:r>
            <a:endParaRPr lang="en-US" altLang="zh-TW" dirty="0"/>
          </a:p>
          <a:p>
            <a:pPr lvl="1"/>
            <a:r>
              <a:rPr lang="zh-TW" altLang="en-US" dirty="0"/>
              <a:t>一筆評價只能由一位會員寫</a:t>
            </a:r>
            <a:endParaRPr lang="en-US" altLang="zh-TW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A8DF230-FF27-0329-949B-BA3274E1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TW" dirty="0"/>
              <a:t>25</a:t>
            </a:r>
            <a:endParaRPr lang="en-US" dirty="0"/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DAB2CDFF-6DA6-6339-0572-2F1298C683C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0115" t="66144" r="31290" b="22127"/>
          <a:stretch>
            <a:fillRect/>
          </a:stretch>
        </p:blipFill>
        <p:spPr>
          <a:xfrm>
            <a:off x="6206247" y="2015732"/>
            <a:ext cx="3394645" cy="1719689"/>
          </a:xfrm>
          <a:prstGeom prst="rect">
            <a:avLst/>
          </a:prstGeom>
        </p:spPr>
      </p:pic>
      <p:pic>
        <p:nvPicPr>
          <p:cNvPr id="6" name="內容版面配置區 4">
            <a:extLst>
              <a:ext uri="{FF2B5EF4-FFF2-40B4-BE49-F238E27FC236}">
                <a16:creationId xmlns:a16="http://schemas.microsoft.com/office/drawing/2014/main" id="{E4A8F98E-25E5-4271-C193-D61E0210A3C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7425" t="14983" r="53720" b="57332"/>
          <a:stretch>
            <a:fillRect/>
          </a:stretch>
        </p:blipFill>
        <p:spPr>
          <a:xfrm>
            <a:off x="6206247" y="4020766"/>
            <a:ext cx="2256817" cy="2661487"/>
          </a:xfrm>
          <a:prstGeom prst="rect">
            <a:avLst/>
          </a:prstGeom>
        </p:spPr>
      </p:pic>
      <p:sp>
        <p:nvSpPr>
          <p:cNvPr id="8" name="L 圖案 7">
            <a:extLst>
              <a:ext uri="{FF2B5EF4-FFF2-40B4-BE49-F238E27FC236}">
                <a16:creationId xmlns:a16="http://schemas.microsoft.com/office/drawing/2014/main" id="{AD1F0814-7A20-C475-49DD-7777B643F7D4}"/>
              </a:ext>
            </a:extLst>
          </p:cNvPr>
          <p:cNvSpPr/>
          <p:nvPr/>
        </p:nvSpPr>
        <p:spPr>
          <a:xfrm rot="10800000" flipH="1">
            <a:off x="6206247" y="4020764"/>
            <a:ext cx="2256817" cy="2661486"/>
          </a:xfrm>
          <a:prstGeom prst="corner">
            <a:avLst>
              <a:gd name="adj1" fmla="val 27435"/>
              <a:gd name="adj2" fmla="val 42794"/>
            </a:avLst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2787558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DF20E04-CCA9-0BA6-1CDE-9F5E484FC7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實體關係圖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E01943D-0006-8E75-C9A1-FC96C81619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訂單的評價：</a:t>
            </a:r>
            <a:endParaRPr lang="en-US" altLang="zh-TW" dirty="0"/>
          </a:p>
          <a:p>
            <a:pPr lvl="1"/>
            <a:r>
              <a:rPr lang="zh-TW" altLang="en-US" dirty="0"/>
              <a:t>一筆評論只能對應到一份訂單</a:t>
            </a:r>
            <a:endParaRPr lang="en-US" altLang="zh-TW" dirty="0"/>
          </a:p>
          <a:p>
            <a:pPr lvl="1"/>
            <a:r>
              <a:rPr lang="zh-TW" altLang="en-US" dirty="0"/>
              <a:t>一份訂單只能有一筆以下評論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F46FBF2-17EA-2696-0777-7245392540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26</a:t>
            </a:r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9F380FF3-8FDD-1004-3E32-E8C3D748AA1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9117" t="15384" r="43302" b="57591"/>
          <a:stretch>
            <a:fillRect/>
          </a:stretch>
        </p:blipFill>
        <p:spPr>
          <a:xfrm>
            <a:off x="6096000" y="2015732"/>
            <a:ext cx="2468215" cy="3047295"/>
          </a:xfrm>
          <a:prstGeom prst="rect">
            <a:avLst/>
          </a:prstGeom>
        </p:spPr>
      </p:pic>
      <p:sp>
        <p:nvSpPr>
          <p:cNvPr id="6" name="L 圖案 5">
            <a:extLst>
              <a:ext uri="{FF2B5EF4-FFF2-40B4-BE49-F238E27FC236}">
                <a16:creationId xmlns:a16="http://schemas.microsoft.com/office/drawing/2014/main" id="{FF45DBA6-F701-CA88-D985-BF5650BA56C7}"/>
              </a:ext>
            </a:extLst>
          </p:cNvPr>
          <p:cNvSpPr/>
          <p:nvPr/>
        </p:nvSpPr>
        <p:spPr>
          <a:xfrm rot="10800000">
            <a:off x="6095999" y="2015731"/>
            <a:ext cx="2468214" cy="3047295"/>
          </a:xfrm>
          <a:prstGeom prst="corner">
            <a:avLst>
              <a:gd name="adj1" fmla="val 27435"/>
              <a:gd name="adj2" fmla="val 39116"/>
            </a:avLst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53256519"/>
      </p:ext>
    </p:extLst>
  </p:cSld>
  <p:clrMapOvr>
    <a:masterClrMapping/>
  </p:clrMapOvr>
</p:sld>
</file>

<file path=ppt/theme/theme1.xml><?xml version="1.0" encoding="utf-8"?>
<a:theme xmlns:a="http://schemas.openxmlformats.org/drawingml/2006/main" name="圖庫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圖庫</Template>
  <TotalTime>273</TotalTime>
  <Words>1607</Words>
  <Application>Microsoft Office PowerPoint</Application>
  <PresentationFormat>寬螢幕</PresentationFormat>
  <Paragraphs>285</Paragraphs>
  <Slides>28</Slides>
  <Notes>2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28</vt:i4>
      </vt:variant>
    </vt:vector>
  </HeadingPairs>
  <TitlesOfParts>
    <vt:vector size="34" baseType="lpstr">
      <vt:lpstr>Microsoft JhengHei</vt:lpstr>
      <vt:lpstr>標準系統字體</vt:lpstr>
      <vt:lpstr>Aptos</vt:lpstr>
      <vt:lpstr>Arial</vt:lpstr>
      <vt:lpstr>Gill Sans MT</vt:lpstr>
      <vt:lpstr>圖庫</vt:lpstr>
      <vt:lpstr>二手物品交易平台</vt:lpstr>
      <vt:lpstr>目錄</vt:lpstr>
      <vt:lpstr>應用情境與使用說明</vt:lpstr>
      <vt:lpstr>系統需求 買家管理功能</vt:lpstr>
      <vt:lpstr>系統需求 賣家管理功能</vt:lpstr>
      <vt:lpstr>系統需求 商品管理功能</vt:lpstr>
      <vt:lpstr>系統需求 訂單管理功能</vt:lpstr>
      <vt:lpstr>系統需求 付款與發票管理功能</vt:lpstr>
      <vt:lpstr>系統需求 出貨管理功能</vt:lpstr>
      <vt:lpstr>系統需求 評價管理功能</vt:lpstr>
      <vt:lpstr>完整性限制</vt:lpstr>
      <vt:lpstr>完整性限制</vt:lpstr>
      <vt:lpstr>完整性限制</vt:lpstr>
      <vt:lpstr>完整性限制</vt:lpstr>
      <vt:lpstr>完整性限制</vt:lpstr>
      <vt:lpstr>完整性限制</vt:lpstr>
      <vt:lpstr>完整性限制</vt:lpstr>
      <vt:lpstr>完整性限制</vt:lpstr>
      <vt:lpstr>完整性限制</vt:lpstr>
      <vt:lpstr>完整性限制</vt:lpstr>
      <vt:lpstr>實體關係圖</vt:lpstr>
      <vt:lpstr>PowerPoint 簡報</vt:lpstr>
      <vt:lpstr>實體關係圖</vt:lpstr>
      <vt:lpstr>實體關係圖</vt:lpstr>
      <vt:lpstr>實體關係圖</vt:lpstr>
      <vt:lpstr>實體關係圖</vt:lpstr>
      <vt:lpstr>實體關係圖</vt:lpstr>
      <vt:lpstr>實體關係圖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auguh019</dc:creator>
  <cp:lastModifiedBy>auguh019</cp:lastModifiedBy>
  <cp:revision>2</cp:revision>
  <dcterms:created xsi:type="dcterms:W3CDTF">2026-04-26T06:38:39Z</dcterms:created>
  <dcterms:modified xsi:type="dcterms:W3CDTF">2026-04-28T17:35:56Z</dcterms:modified>
</cp:coreProperties>
</file>